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AIONOS AGENTIC AI FACTORY · ASSIGNMENT 2: INTERNAL SERVICE AGENT</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Veridian IT Service Agent</a:t>
            </a:r>
          </a:p>
        </p:txBody>
      </p:sp>
      <p:sp>
        <p:nvSpPr>
          <p:cNvPr id="5" name="TextBox 4"/>
          <p:cNvSpPr txBox="1"/>
          <p:nvPr/>
        </p:nvSpPr>
        <p:spPr>
          <a:xfrm>
            <a:off x="548640" y="1645920"/>
            <a:ext cx="10515600" cy="1280160"/>
          </a:xfrm>
          <a:prstGeom prst="rect">
            <a:avLst/>
          </a:prstGeom>
          <a:noFill/>
        </p:spPr>
        <p:txBody>
          <a:bodyPr wrap="square">
            <a:spAutoFit/>
          </a:bodyPr>
          <a:lstStyle/>
          <a:p>
            <a:r>
              <a:rPr sz="2000" b="0">
                <a:solidFill>
                  <a:srgbClr val="9AA3B2"/>
                </a:solidFill>
                <a:latin typeface="Segoe UI"/>
              </a:rPr>
              <a:t>An internal IT support agent that's grounded, cites its sources, and can be audited. It understands the issue, finds the policy, asks only the follow-ups that matter, resolves or escalates, and logs every step.</a:t>
            </a:r>
          </a:p>
        </p:txBody>
      </p:sp>
      <p:sp>
        <p:nvSpPr>
          <p:cNvPr id="6" name="Rounded Rectangle 5"/>
          <p:cNvSpPr/>
          <p:nvPr/>
        </p:nvSpPr>
        <p:spPr>
          <a:xfrm>
            <a:off x="548640" y="3291840"/>
            <a:ext cx="2651760" cy="137160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383280"/>
            <a:ext cx="2377440" cy="365760"/>
          </a:xfrm>
          <a:prstGeom prst="rect">
            <a:avLst/>
          </a:prstGeom>
          <a:noFill/>
        </p:spPr>
        <p:txBody>
          <a:bodyPr wrap="square">
            <a:spAutoFit/>
          </a:bodyPr>
          <a:lstStyle/>
          <a:p>
            <a:r>
              <a:rPr sz="3000" b="1">
                <a:solidFill>
                  <a:srgbClr val="4CC38A"/>
                </a:solidFill>
                <a:latin typeface="Segoe UI"/>
              </a:rPr>
              <a:t>15 / 15</a:t>
            </a:r>
          </a:p>
        </p:txBody>
      </p:sp>
      <p:sp>
        <p:nvSpPr>
          <p:cNvPr id="8" name="TextBox 7"/>
          <p:cNvSpPr txBox="1"/>
          <p:nvPr/>
        </p:nvSpPr>
        <p:spPr>
          <a:xfrm>
            <a:off x="685800" y="3749039"/>
            <a:ext cx="2377440" cy="822960"/>
          </a:xfrm>
          <a:prstGeom prst="rect">
            <a:avLst/>
          </a:prstGeom>
          <a:noFill/>
        </p:spPr>
        <p:txBody>
          <a:bodyPr wrap="square">
            <a:spAutoFit/>
          </a:bodyPr>
          <a:lstStyle/>
          <a:p>
            <a:r>
              <a:rPr sz="1300" b="0">
                <a:solidFill>
                  <a:srgbClr val="E6E8EC"/>
                </a:solidFill>
                <a:latin typeface="Segoe UI"/>
              </a:rPr>
              <a:t>data-pack requests triaged</a:t>
            </a:r>
          </a:p>
        </p:txBody>
      </p:sp>
      <p:sp>
        <p:nvSpPr>
          <p:cNvPr id="9" name="Rounded Rectangle 8"/>
          <p:cNvSpPr/>
          <p:nvPr/>
        </p:nvSpPr>
        <p:spPr>
          <a:xfrm>
            <a:off x="3383280" y="3291840"/>
            <a:ext cx="2651760" cy="137160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3383280"/>
            <a:ext cx="2377440" cy="365760"/>
          </a:xfrm>
          <a:prstGeom prst="rect">
            <a:avLst/>
          </a:prstGeom>
          <a:noFill/>
        </p:spPr>
        <p:txBody>
          <a:bodyPr wrap="square">
            <a:spAutoFit/>
          </a:bodyPr>
          <a:lstStyle/>
          <a:p>
            <a:r>
              <a:rPr sz="3000" b="1">
                <a:solidFill>
                  <a:srgbClr val="7B93FF"/>
                </a:solidFill>
                <a:latin typeface="Segoe UI"/>
              </a:rPr>
              <a:t>4</a:t>
            </a:r>
          </a:p>
        </p:txBody>
      </p:sp>
      <p:sp>
        <p:nvSpPr>
          <p:cNvPr id="11" name="TextBox 10"/>
          <p:cNvSpPr txBox="1"/>
          <p:nvPr/>
        </p:nvSpPr>
        <p:spPr>
          <a:xfrm>
            <a:off x="3520440" y="3749039"/>
            <a:ext cx="2377440" cy="822960"/>
          </a:xfrm>
          <a:prstGeom prst="rect">
            <a:avLst/>
          </a:prstGeom>
          <a:noFill/>
        </p:spPr>
        <p:txBody>
          <a:bodyPr wrap="square">
            <a:spAutoFit/>
          </a:bodyPr>
          <a:lstStyle/>
          <a:p>
            <a:r>
              <a:rPr sz="1300" b="0">
                <a:solidFill>
                  <a:srgbClr val="E6E8EC"/>
                </a:solidFill>
                <a:latin typeface="Segoe UI"/>
              </a:rPr>
              <a:t>active queue tickets assessed</a:t>
            </a:r>
          </a:p>
        </p:txBody>
      </p:sp>
      <p:sp>
        <p:nvSpPr>
          <p:cNvPr id="12" name="Rounded Rectangle 11"/>
          <p:cNvSpPr/>
          <p:nvPr/>
        </p:nvSpPr>
        <p:spPr>
          <a:xfrm>
            <a:off x="6217920" y="3291840"/>
            <a:ext cx="2651760" cy="1371600"/>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383280"/>
            <a:ext cx="2377440" cy="365760"/>
          </a:xfrm>
          <a:prstGeom prst="rect">
            <a:avLst/>
          </a:prstGeom>
          <a:noFill/>
        </p:spPr>
        <p:txBody>
          <a:bodyPr wrap="square">
            <a:spAutoFit/>
          </a:bodyPr>
          <a:lstStyle/>
          <a:p>
            <a:r>
              <a:rPr sz="3000" b="1">
                <a:solidFill>
                  <a:srgbClr val="E3B34A"/>
                </a:solidFill>
                <a:latin typeface="Segoe UI"/>
              </a:rPr>
              <a:t>2 + 5</a:t>
            </a:r>
          </a:p>
        </p:txBody>
      </p:sp>
      <p:sp>
        <p:nvSpPr>
          <p:cNvPr id="14" name="TextBox 13"/>
          <p:cNvSpPr txBox="1"/>
          <p:nvPr/>
        </p:nvSpPr>
        <p:spPr>
          <a:xfrm>
            <a:off x="6355080" y="3749039"/>
            <a:ext cx="2377440" cy="822960"/>
          </a:xfrm>
          <a:prstGeom prst="rect">
            <a:avLst/>
          </a:prstGeom>
          <a:noFill/>
        </p:spPr>
        <p:txBody>
          <a:bodyPr wrap="square">
            <a:spAutoFit/>
          </a:bodyPr>
          <a:lstStyle/>
          <a:p>
            <a:r>
              <a:rPr sz="1300" b="0">
                <a:solidFill>
                  <a:srgbClr val="E6E8EC"/>
                </a:solidFill>
                <a:latin typeface="Segoe UI"/>
              </a:rPr>
              <a:t>policy conflicts / status corrections caught</a:t>
            </a:r>
          </a:p>
        </p:txBody>
      </p:sp>
      <p:sp>
        <p:nvSpPr>
          <p:cNvPr id="15" name="Rounded Rectangle 14"/>
          <p:cNvSpPr/>
          <p:nvPr/>
        </p:nvSpPr>
        <p:spPr>
          <a:xfrm>
            <a:off x="9052560" y="3291840"/>
            <a:ext cx="2651760" cy="1371600"/>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3383280"/>
            <a:ext cx="2377440" cy="365760"/>
          </a:xfrm>
          <a:prstGeom prst="rect">
            <a:avLst/>
          </a:prstGeom>
          <a:noFill/>
        </p:spPr>
        <p:txBody>
          <a:bodyPr wrap="square">
            <a:spAutoFit/>
          </a:bodyPr>
          <a:lstStyle/>
          <a:p>
            <a:r>
              <a:rPr sz="3000" b="1">
                <a:solidFill>
                  <a:srgbClr val="FF7B72"/>
                </a:solidFill>
                <a:latin typeface="Segoe UI"/>
              </a:rPr>
              <a:t>0</a:t>
            </a:r>
          </a:p>
        </p:txBody>
      </p:sp>
      <p:sp>
        <p:nvSpPr>
          <p:cNvPr id="17" name="TextBox 16"/>
          <p:cNvSpPr txBox="1"/>
          <p:nvPr/>
        </p:nvSpPr>
        <p:spPr>
          <a:xfrm>
            <a:off x="9189720" y="3749039"/>
            <a:ext cx="2377440" cy="822960"/>
          </a:xfrm>
          <a:prstGeom prst="rect">
            <a:avLst/>
          </a:prstGeom>
          <a:noFill/>
        </p:spPr>
        <p:txBody>
          <a:bodyPr wrap="square">
            <a:spAutoFit/>
          </a:bodyPr>
          <a:lstStyle/>
          <a:p>
            <a:r>
              <a:rPr sz="1300" b="0">
                <a:solidFill>
                  <a:srgbClr val="E6E8EC"/>
                </a:solidFill>
                <a:latin typeface="Segoe UI"/>
              </a:rPr>
              <a:t>invented policies</a:t>
            </a:r>
          </a:p>
        </p:txBody>
      </p:sp>
      <p:sp>
        <p:nvSpPr>
          <p:cNvPr id="18" name="TextBox 17"/>
          <p:cNvSpPr txBox="1"/>
          <p:nvPr/>
        </p:nvSpPr>
        <p:spPr>
          <a:xfrm>
            <a:off x="548640" y="5120640"/>
            <a:ext cx="10972800" cy="365760"/>
          </a:xfrm>
          <a:prstGeom prst="rect">
            <a:avLst/>
          </a:prstGeom>
          <a:noFill/>
        </p:spPr>
        <p:txBody>
          <a:bodyPr wrap="square">
            <a:spAutoFit/>
          </a:bodyPr>
          <a:lstStyle/>
          <a:p>
            <a:r>
              <a:rPr sz="1600" b="1">
                <a:solidFill>
                  <a:srgbClr val="7B93FF"/>
                </a:solidFill>
                <a:latin typeface="Segoe UI"/>
              </a:rPr>
              <a:t>Live demo:  https://princegarg001.github.io/veridian-it-service-agent/</a:t>
            </a:r>
          </a:p>
        </p:txBody>
      </p:sp>
      <p:sp>
        <p:nvSpPr>
          <p:cNvPr id="19" name="TextBox 18"/>
          <p:cNvSpPr txBox="1"/>
          <p:nvPr/>
        </p:nvSpPr>
        <p:spPr>
          <a:xfrm>
            <a:off x="548640" y="5532120"/>
            <a:ext cx="10972800" cy="365760"/>
          </a:xfrm>
          <a:prstGeom prst="rect">
            <a:avLst/>
          </a:prstGeom>
          <a:noFill/>
        </p:spPr>
        <p:txBody>
          <a:bodyPr wrap="square">
            <a:spAutoFit/>
          </a:bodyPr>
          <a:lstStyle/>
          <a:p>
            <a:r>
              <a:rPr sz="1600" b="1">
                <a:solidFill>
                  <a:srgbClr val="7B93FF"/>
                </a:solidFill>
                <a:latin typeface="Segoe UI"/>
              </a:rPr>
              <a:t>GitHub:  https://github.com/princegarg001/veridian-it-service-agent</a:t>
            </a:r>
          </a:p>
        </p:txBody>
      </p:sp>
      <p:sp>
        <p:nvSpPr>
          <p:cNvPr id="20" name="TextBox 19"/>
          <p:cNvSpPr txBox="1"/>
          <p:nvPr/>
        </p:nvSpPr>
        <p:spPr>
          <a:xfrm>
            <a:off x="548640" y="6126480"/>
            <a:ext cx="5486400" cy="365760"/>
          </a:xfrm>
          <a:prstGeom prst="rect">
            <a:avLst/>
          </a:prstGeom>
          <a:noFill/>
        </p:spPr>
        <p:txBody>
          <a:bodyPr wrap="square">
            <a:spAutoFit/>
          </a:bodyPr>
          <a:lstStyle/>
          <a:p>
            <a:r>
              <a:rPr sz="1400" b="0">
                <a:solidFill>
                  <a:srgbClr val="9AA3B2"/>
                </a:solidFill>
                <a:latin typeface="Segoe UI"/>
              </a:rPr>
              <a:t>Prince Garg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PROBLEM &amp; SCOPE</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The problem and what the brief requires</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2 / 10  ·  Veridian IT Service Agent</a:t>
            </a:r>
          </a:p>
        </p:txBody>
      </p:sp>
      <p:sp>
        <p:nvSpPr>
          <p:cNvPr id="6" name="TextBox 5"/>
          <p:cNvSpPr txBox="1"/>
          <p:nvPr/>
        </p:nvSpPr>
        <p:spPr>
          <a:xfrm>
            <a:off x="548640" y="1463040"/>
            <a:ext cx="10972800" cy="914400"/>
          </a:xfrm>
          <a:prstGeom prst="rect">
            <a:avLst/>
          </a:prstGeom>
          <a:noFill/>
        </p:spPr>
        <p:txBody>
          <a:bodyPr wrap="square">
            <a:spAutoFit/>
          </a:bodyPr>
          <a:lstStyle/>
          <a:p>
            <a:r>
              <a:rPr sz="1600" b="0">
                <a:solidFill>
                  <a:srgbClr val="9AA3B2"/>
                </a:solidFill>
                <a:latin typeface="Segoe UI"/>
              </a:rPr>
              <a:t>Veridian Corp IT receives messy, ambiguous requests. Some are risky (phishing, admin access), some conflict with policy (laptop refresh), and some statuses in the queue are wrong. The agent has to act only on the supplied policies.</a:t>
            </a:r>
          </a:p>
        </p:txBody>
      </p:sp>
      <p:sp>
        <p:nvSpPr>
          <p:cNvPr id="7" name="Rounded Rectangle 6"/>
          <p:cNvSpPr/>
          <p:nvPr/>
        </p:nvSpPr>
        <p:spPr>
          <a:xfrm>
            <a:off x="548640" y="2514600"/>
            <a:ext cx="2697480" cy="169164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06040"/>
            <a:ext cx="2423160" cy="365760"/>
          </a:xfrm>
          <a:prstGeom prst="rect">
            <a:avLst/>
          </a:prstGeom>
          <a:noFill/>
        </p:spPr>
        <p:txBody>
          <a:bodyPr wrap="square">
            <a:spAutoFit/>
          </a:bodyPr>
          <a:lstStyle/>
          <a:p>
            <a:r>
              <a:rPr sz="1400" b="1">
                <a:solidFill>
                  <a:srgbClr val="4CC38A"/>
                </a:solidFill>
                <a:latin typeface="Segoe UI"/>
              </a:rPr>
              <a:t>✓ Understand the issue</a:t>
            </a:r>
          </a:p>
        </p:txBody>
      </p:sp>
      <p:sp>
        <p:nvSpPr>
          <p:cNvPr id="9" name="TextBox 8"/>
          <p:cNvSpPr txBox="1"/>
          <p:nvPr/>
        </p:nvSpPr>
        <p:spPr>
          <a:xfrm>
            <a:off x="685800" y="2971800"/>
            <a:ext cx="2423160" cy="1143000"/>
          </a:xfrm>
          <a:prstGeom prst="rect">
            <a:avLst/>
          </a:prstGeom>
          <a:noFill/>
        </p:spPr>
        <p:txBody>
          <a:bodyPr wrap="square">
            <a:spAutoFit/>
          </a:bodyPr>
          <a:lstStyle/>
          <a:p>
            <a:r>
              <a:rPr sz="1200" b="0">
                <a:solidFill>
                  <a:srgbClr val="E6E8EC"/>
                </a:solidFill>
                <a:latin typeface="Segoe UI"/>
              </a:rPr>
              <a:t>Hybrid classifier (rules + optional Claude), entity extraction</a:t>
            </a:r>
          </a:p>
        </p:txBody>
      </p:sp>
      <p:sp>
        <p:nvSpPr>
          <p:cNvPr id="10" name="Rounded Rectangle 9"/>
          <p:cNvSpPr/>
          <p:nvPr/>
        </p:nvSpPr>
        <p:spPr>
          <a:xfrm>
            <a:off x="3383280" y="2514600"/>
            <a:ext cx="2697480" cy="169164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606040"/>
            <a:ext cx="2423160" cy="365760"/>
          </a:xfrm>
          <a:prstGeom prst="rect">
            <a:avLst/>
          </a:prstGeom>
          <a:noFill/>
        </p:spPr>
        <p:txBody>
          <a:bodyPr wrap="square">
            <a:spAutoFit/>
          </a:bodyPr>
          <a:lstStyle/>
          <a:p>
            <a:r>
              <a:rPr sz="1400" b="1">
                <a:solidFill>
                  <a:srgbClr val="7B93FF"/>
                </a:solidFill>
                <a:latin typeface="Segoe UI"/>
              </a:rPr>
              <a:t>✓ Find policy / resolution</a:t>
            </a:r>
          </a:p>
        </p:txBody>
      </p:sp>
      <p:sp>
        <p:nvSpPr>
          <p:cNvPr id="12" name="TextBox 11"/>
          <p:cNvSpPr txBox="1"/>
          <p:nvPr/>
        </p:nvSpPr>
        <p:spPr>
          <a:xfrm>
            <a:off x="3520440" y="2971800"/>
            <a:ext cx="2423160" cy="1143000"/>
          </a:xfrm>
          <a:prstGeom prst="rect">
            <a:avLst/>
          </a:prstGeom>
          <a:noFill/>
        </p:spPr>
        <p:txBody>
          <a:bodyPr wrap="square">
            <a:spAutoFit/>
          </a:bodyPr>
          <a:lstStyle/>
          <a:p>
            <a:r>
              <a:rPr sz="1200" b="0">
                <a:solidFill>
                  <a:srgbClr val="E6E8EC"/>
                </a:solidFill>
                <a:latin typeface="Segoe UI"/>
              </a:rPr>
              <a:t>Policy map + BM25 retrieval + ticket precedents</a:t>
            </a:r>
          </a:p>
        </p:txBody>
      </p:sp>
      <p:sp>
        <p:nvSpPr>
          <p:cNvPr id="13" name="Rounded Rectangle 12"/>
          <p:cNvSpPr/>
          <p:nvPr/>
        </p:nvSpPr>
        <p:spPr>
          <a:xfrm>
            <a:off x="6217920" y="2514600"/>
            <a:ext cx="2697480" cy="169164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606040"/>
            <a:ext cx="2423160" cy="365760"/>
          </a:xfrm>
          <a:prstGeom prst="rect">
            <a:avLst/>
          </a:prstGeom>
          <a:noFill/>
        </p:spPr>
        <p:txBody>
          <a:bodyPr wrap="square">
            <a:spAutoFit/>
          </a:bodyPr>
          <a:lstStyle/>
          <a:p>
            <a:r>
              <a:rPr sz="1400" b="1">
                <a:solidFill>
                  <a:srgbClr val="4CC38A"/>
                </a:solidFill>
                <a:latin typeface="Segoe UI"/>
              </a:rPr>
              <a:t>✓ Sensible follow-ups</a:t>
            </a:r>
          </a:p>
        </p:txBody>
      </p:sp>
      <p:sp>
        <p:nvSpPr>
          <p:cNvPr id="15" name="TextBox 14"/>
          <p:cNvSpPr txBox="1"/>
          <p:nvPr/>
        </p:nvSpPr>
        <p:spPr>
          <a:xfrm>
            <a:off x="6355080" y="2971800"/>
            <a:ext cx="2423160" cy="1143000"/>
          </a:xfrm>
          <a:prstGeom prst="rect">
            <a:avLst/>
          </a:prstGeom>
          <a:noFill/>
        </p:spPr>
        <p:txBody>
          <a:bodyPr wrap="square">
            <a:spAutoFit/>
          </a:bodyPr>
          <a:lstStyle/>
          <a:p>
            <a:r>
              <a:rPr sz="1200" b="0">
                <a:solidFill>
                  <a:srgbClr val="E6E8EC"/>
                </a:solidFill>
                <a:latin typeface="Segoe UI"/>
              </a:rPr>
              <a:t>Slot filling. Asks only when the answer changes the decision</a:t>
            </a:r>
          </a:p>
        </p:txBody>
      </p:sp>
      <p:sp>
        <p:nvSpPr>
          <p:cNvPr id="16" name="Rounded Rectangle 15"/>
          <p:cNvSpPr/>
          <p:nvPr/>
        </p:nvSpPr>
        <p:spPr>
          <a:xfrm>
            <a:off x="9052560" y="2514600"/>
            <a:ext cx="2697480" cy="169164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606040"/>
            <a:ext cx="2423160" cy="365760"/>
          </a:xfrm>
          <a:prstGeom prst="rect">
            <a:avLst/>
          </a:prstGeom>
          <a:noFill/>
        </p:spPr>
        <p:txBody>
          <a:bodyPr wrap="square">
            <a:spAutoFit/>
          </a:bodyPr>
          <a:lstStyle/>
          <a:p>
            <a:r>
              <a:rPr sz="1400" b="1">
                <a:solidFill>
                  <a:srgbClr val="7B93FF"/>
                </a:solidFill>
                <a:latin typeface="Segoe UI"/>
              </a:rPr>
              <a:t>✓ Resolve simple requests</a:t>
            </a:r>
          </a:p>
        </p:txBody>
      </p:sp>
      <p:sp>
        <p:nvSpPr>
          <p:cNvPr id="18" name="TextBox 17"/>
          <p:cNvSpPr txBox="1"/>
          <p:nvPr/>
        </p:nvSpPr>
        <p:spPr>
          <a:xfrm>
            <a:off x="9189720" y="2971800"/>
            <a:ext cx="2423160" cy="1143000"/>
          </a:xfrm>
          <a:prstGeom prst="rect">
            <a:avLst/>
          </a:prstGeom>
          <a:noFill/>
        </p:spPr>
        <p:txBody>
          <a:bodyPr wrap="square">
            <a:spAutoFit/>
          </a:bodyPr>
          <a:lstStyle/>
          <a:p>
            <a:r>
              <a:rPr sz="1200" b="0">
                <a:solidFill>
                  <a:srgbClr val="E6E8EC"/>
                </a:solidFill>
                <a:latin typeface="Segoe UI"/>
              </a:rPr>
              <a:t>Self-service guidance with citations (Wi-Fi, VPN renewal)</a:t>
            </a:r>
          </a:p>
        </p:txBody>
      </p:sp>
      <p:sp>
        <p:nvSpPr>
          <p:cNvPr id="19" name="Rounded Rectangle 18"/>
          <p:cNvSpPr/>
          <p:nvPr/>
        </p:nvSpPr>
        <p:spPr>
          <a:xfrm>
            <a:off x="548640" y="4389120"/>
            <a:ext cx="2697480" cy="169164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80559"/>
            <a:ext cx="2423160" cy="365760"/>
          </a:xfrm>
          <a:prstGeom prst="rect">
            <a:avLst/>
          </a:prstGeom>
          <a:noFill/>
        </p:spPr>
        <p:txBody>
          <a:bodyPr wrap="square">
            <a:spAutoFit/>
          </a:bodyPr>
          <a:lstStyle/>
          <a:p>
            <a:r>
              <a:rPr sz="1400" b="1">
                <a:solidFill>
                  <a:srgbClr val="4CC38A"/>
                </a:solidFill>
                <a:latin typeface="Segoe UI"/>
              </a:rPr>
              <a:t>✓ Escalate risky / unclear</a:t>
            </a:r>
          </a:p>
        </p:txBody>
      </p:sp>
      <p:sp>
        <p:nvSpPr>
          <p:cNvPr id="21" name="TextBox 20"/>
          <p:cNvSpPr txBox="1"/>
          <p:nvPr/>
        </p:nvSpPr>
        <p:spPr>
          <a:xfrm>
            <a:off x="685800" y="4846320"/>
            <a:ext cx="2423160" cy="1143000"/>
          </a:xfrm>
          <a:prstGeom prst="rect">
            <a:avLst/>
          </a:prstGeom>
          <a:noFill/>
        </p:spPr>
        <p:txBody>
          <a:bodyPr wrap="square">
            <a:spAutoFit/>
          </a:bodyPr>
          <a:lstStyle/>
          <a:p>
            <a:r>
              <a:rPr sz="1200" b="0">
                <a:solidFill>
                  <a:srgbClr val="E6E8EC"/>
                </a:solidFill>
                <a:latin typeface="Segoe UI"/>
              </a:rPr>
              <a:t>Security-first override, ungrounded → human, conflicts → human</a:t>
            </a:r>
          </a:p>
        </p:txBody>
      </p:sp>
      <p:sp>
        <p:nvSpPr>
          <p:cNvPr id="22" name="Rounded Rectangle 21"/>
          <p:cNvSpPr/>
          <p:nvPr/>
        </p:nvSpPr>
        <p:spPr>
          <a:xfrm>
            <a:off x="3383280" y="4389120"/>
            <a:ext cx="2697480" cy="169164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4480559"/>
            <a:ext cx="2423160" cy="365760"/>
          </a:xfrm>
          <a:prstGeom prst="rect">
            <a:avLst/>
          </a:prstGeom>
          <a:noFill/>
        </p:spPr>
        <p:txBody>
          <a:bodyPr wrap="square">
            <a:spAutoFit/>
          </a:bodyPr>
          <a:lstStyle/>
          <a:p>
            <a:r>
              <a:rPr sz="1400" b="1">
                <a:solidFill>
                  <a:srgbClr val="7B93FF"/>
                </a:solidFill>
                <a:latin typeface="Segoe UI"/>
              </a:rPr>
              <a:t>✓ Structured ticket</a:t>
            </a:r>
          </a:p>
        </p:txBody>
      </p:sp>
      <p:sp>
        <p:nvSpPr>
          <p:cNvPr id="24" name="TextBox 23"/>
          <p:cNvSpPr txBox="1"/>
          <p:nvPr/>
        </p:nvSpPr>
        <p:spPr>
          <a:xfrm>
            <a:off x="3520440" y="4846320"/>
            <a:ext cx="2423160" cy="1143000"/>
          </a:xfrm>
          <a:prstGeom prst="rect">
            <a:avLst/>
          </a:prstGeom>
          <a:noFill/>
        </p:spPr>
        <p:txBody>
          <a:bodyPr wrap="square">
            <a:spAutoFit/>
          </a:bodyPr>
          <a:lstStyle/>
          <a:p>
            <a:r>
              <a:rPr sz="1200" b="0">
                <a:solidFill>
                  <a:srgbClr val="E6E8EC"/>
                </a:solidFill>
                <a:latin typeface="Segoe UI"/>
              </a:rPr>
              <a:t>JSON: priority, risk, owner, SLA, sources, conflicts, next steps</a:t>
            </a:r>
          </a:p>
        </p:txBody>
      </p:sp>
      <p:sp>
        <p:nvSpPr>
          <p:cNvPr id="25" name="Rounded Rectangle 24"/>
          <p:cNvSpPr/>
          <p:nvPr/>
        </p:nvSpPr>
        <p:spPr>
          <a:xfrm>
            <a:off x="6217920" y="4389120"/>
            <a:ext cx="2697480" cy="169164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4480559"/>
            <a:ext cx="2423160" cy="365760"/>
          </a:xfrm>
          <a:prstGeom prst="rect">
            <a:avLst/>
          </a:prstGeom>
          <a:noFill/>
        </p:spPr>
        <p:txBody>
          <a:bodyPr wrap="square">
            <a:spAutoFit/>
          </a:bodyPr>
          <a:lstStyle/>
          <a:p>
            <a:r>
              <a:rPr sz="1400" b="1">
                <a:solidFill>
                  <a:srgbClr val="4CC38A"/>
                </a:solidFill>
                <a:latin typeface="Segoe UI"/>
              </a:rPr>
              <a:t>✓ Show source used</a:t>
            </a:r>
          </a:p>
        </p:txBody>
      </p:sp>
      <p:sp>
        <p:nvSpPr>
          <p:cNvPr id="27" name="TextBox 26"/>
          <p:cNvSpPr txBox="1"/>
          <p:nvPr/>
        </p:nvSpPr>
        <p:spPr>
          <a:xfrm>
            <a:off x="6355080" y="4846320"/>
            <a:ext cx="2423160" cy="1143000"/>
          </a:xfrm>
          <a:prstGeom prst="rect">
            <a:avLst/>
          </a:prstGeom>
          <a:noFill/>
        </p:spPr>
        <p:txBody>
          <a:bodyPr wrap="square">
            <a:spAutoFit/>
          </a:bodyPr>
          <a:lstStyle/>
          <a:p>
            <a:r>
              <a:rPr sz="1200" b="0">
                <a:solidFill>
                  <a:srgbClr val="E6E8EC"/>
                </a:solidFill>
                <a:latin typeface="Segoe UI"/>
              </a:rPr>
              <a:t>Clickable KB-xx / TK-xxxx citations on every answer</a:t>
            </a:r>
          </a:p>
        </p:txBody>
      </p:sp>
      <p:sp>
        <p:nvSpPr>
          <p:cNvPr id="28" name="Rounded Rectangle 27"/>
          <p:cNvSpPr/>
          <p:nvPr/>
        </p:nvSpPr>
        <p:spPr>
          <a:xfrm>
            <a:off x="9052560" y="4389120"/>
            <a:ext cx="2697480" cy="169164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89720" y="4480559"/>
            <a:ext cx="2423160" cy="365760"/>
          </a:xfrm>
          <a:prstGeom prst="rect">
            <a:avLst/>
          </a:prstGeom>
          <a:noFill/>
        </p:spPr>
        <p:txBody>
          <a:bodyPr wrap="square">
            <a:spAutoFit/>
          </a:bodyPr>
          <a:lstStyle/>
          <a:p>
            <a:r>
              <a:rPr sz="1400" b="1">
                <a:solidFill>
                  <a:srgbClr val="7B93FF"/>
                </a:solidFill>
                <a:latin typeface="Segoe UI"/>
              </a:rPr>
              <a:t>✓ Audit trail</a:t>
            </a:r>
          </a:p>
        </p:txBody>
      </p:sp>
      <p:sp>
        <p:nvSpPr>
          <p:cNvPr id="30" name="TextBox 29"/>
          <p:cNvSpPr txBox="1"/>
          <p:nvPr/>
        </p:nvSpPr>
        <p:spPr>
          <a:xfrm>
            <a:off x="9189720" y="4846320"/>
            <a:ext cx="2423160" cy="1143000"/>
          </a:xfrm>
          <a:prstGeom prst="rect">
            <a:avLst/>
          </a:prstGeom>
          <a:noFill/>
        </p:spPr>
        <p:txBody>
          <a:bodyPr wrap="square">
            <a:spAutoFit/>
          </a:bodyPr>
          <a:lstStyle/>
          <a:p>
            <a:r>
              <a:rPr sz="1200" b="0">
                <a:solidFill>
                  <a:srgbClr val="E6E8EC"/>
                </a:solidFill>
                <a:latin typeface="Segoe UI"/>
              </a:rPr>
              <a:t>Hash-chained log of every stage and actor, exportable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ARCHITECTURE</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Architecture of the complete solution</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3 / 10  ·  Veridian IT Service Agent</a:t>
            </a:r>
          </a:p>
        </p:txBody>
      </p:sp>
      <p:sp>
        <p:nvSpPr>
          <p:cNvPr id="6" name="Rounded Rectangle 5"/>
          <p:cNvSpPr/>
          <p:nvPr/>
        </p:nvSpPr>
        <p:spPr>
          <a:xfrm>
            <a:off x="548640" y="1463040"/>
            <a:ext cx="6583680" cy="749808"/>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6309360" cy="365760"/>
          </a:xfrm>
          <a:prstGeom prst="rect">
            <a:avLst/>
          </a:prstGeom>
          <a:noFill/>
        </p:spPr>
        <p:txBody>
          <a:bodyPr wrap="square">
            <a:spAutoFit/>
          </a:bodyPr>
          <a:lstStyle/>
          <a:p>
            <a:r>
              <a:rPr sz="1300" b="1">
                <a:solidFill>
                  <a:srgbClr val="7B93FF"/>
                </a:solidFill>
                <a:latin typeface="Segoe UI"/>
              </a:rPr>
              <a:t>Presentation</a:t>
            </a:r>
          </a:p>
        </p:txBody>
      </p:sp>
      <p:sp>
        <p:nvSpPr>
          <p:cNvPr id="8" name="TextBox 7"/>
          <p:cNvSpPr txBox="1"/>
          <p:nvPr/>
        </p:nvSpPr>
        <p:spPr>
          <a:xfrm>
            <a:off x="685800" y="1920240"/>
            <a:ext cx="6309360" cy="201167"/>
          </a:xfrm>
          <a:prstGeom prst="rect">
            <a:avLst/>
          </a:prstGeom>
          <a:noFill/>
        </p:spPr>
        <p:txBody>
          <a:bodyPr wrap="square">
            <a:spAutoFit/>
          </a:bodyPr>
          <a:lstStyle/>
          <a:p>
            <a:r>
              <a:rPr sz="1100" b="0">
                <a:solidFill>
                  <a:srgbClr val="E6E8EC"/>
                </a:solidFill>
                <a:latin typeface="Segoe UI"/>
              </a:rPr>
              <a:t>index.html · app.js: Agent Chat, Triage Console, Tickets, Audit, KB, Architecture tabs</a:t>
            </a:r>
          </a:p>
        </p:txBody>
      </p:sp>
      <p:sp>
        <p:nvSpPr>
          <p:cNvPr id="9" name="Rounded Rectangle 8"/>
          <p:cNvSpPr/>
          <p:nvPr/>
        </p:nvSpPr>
        <p:spPr>
          <a:xfrm>
            <a:off x="548640" y="2286000"/>
            <a:ext cx="6583680" cy="749808"/>
          </a:xfrm>
          <a:prstGeom prst="roundRect">
            <a:avLst>
              <a:gd name="adj" fmla="val 8000"/>
            </a:avLst>
          </a:prstGeom>
          <a:solidFill>
            <a:srgbClr val="161B22"/>
          </a:solidFill>
          <a:ln>
            <a:solidFill>
              <a:srgbClr val="B99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77440"/>
            <a:ext cx="6309360" cy="365760"/>
          </a:xfrm>
          <a:prstGeom prst="rect">
            <a:avLst/>
          </a:prstGeom>
          <a:noFill/>
        </p:spPr>
        <p:txBody>
          <a:bodyPr wrap="square">
            <a:spAutoFit/>
          </a:bodyPr>
          <a:lstStyle/>
          <a:p>
            <a:r>
              <a:rPr sz="1300" b="1">
                <a:solidFill>
                  <a:srgbClr val="B99AF0"/>
                </a:solidFill>
                <a:latin typeface="Segoe UI"/>
              </a:rPr>
              <a:t>Orchestration</a:t>
            </a:r>
          </a:p>
        </p:txBody>
      </p:sp>
      <p:sp>
        <p:nvSpPr>
          <p:cNvPr id="11" name="TextBox 10"/>
          <p:cNvSpPr txBox="1"/>
          <p:nvPr/>
        </p:nvSpPr>
        <p:spPr>
          <a:xfrm>
            <a:off x="685800" y="2743200"/>
            <a:ext cx="6309360" cy="201167"/>
          </a:xfrm>
          <a:prstGeom prst="rect">
            <a:avLst/>
          </a:prstGeom>
          <a:noFill/>
        </p:spPr>
        <p:txBody>
          <a:bodyPr wrap="square">
            <a:spAutoFit/>
          </a:bodyPr>
          <a:lstStyle/>
          <a:p>
            <a:r>
              <a:rPr sz="1100" b="0">
                <a:solidFill>
                  <a:srgbClr val="E6E8EC"/>
                </a:solidFill>
                <a:latin typeface="Segoe UI"/>
              </a:rPr>
              <a:t>engine.run(): intake → understand → retrieve → reason → guardrails → act + slot-filling loop</a:t>
            </a:r>
          </a:p>
        </p:txBody>
      </p:sp>
      <p:sp>
        <p:nvSpPr>
          <p:cNvPr id="12" name="Rounded Rectangle 11"/>
          <p:cNvSpPr/>
          <p:nvPr/>
        </p:nvSpPr>
        <p:spPr>
          <a:xfrm>
            <a:off x="548640" y="3108960"/>
            <a:ext cx="6583680" cy="749808"/>
          </a:xfrm>
          <a:prstGeom prst="roundRect">
            <a:avLst>
              <a:gd name="adj" fmla="val 8000"/>
            </a:avLst>
          </a:prstGeom>
          <a:solidFill>
            <a:srgbClr val="161B22"/>
          </a:solidFill>
          <a:ln>
            <a:solidFill>
              <a:srgbClr val="B99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0400"/>
            <a:ext cx="6309360" cy="365760"/>
          </a:xfrm>
          <a:prstGeom prst="rect">
            <a:avLst/>
          </a:prstGeom>
          <a:noFill/>
        </p:spPr>
        <p:txBody>
          <a:bodyPr wrap="square">
            <a:spAutoFit/>
          </a:bodyPr>
          <a:lstStyle/>
          <a:p>
            <a:r>
              <a:rPr sz="1300" b="1">
                <a:solidFill>
                  <a:srgbClr val="B99AF0"/>
                </a:solidFill>
                <a:latin typeface="Segoe UI"/>
              </a:rPr>
              <a:t>Understanding</a:t>
            </a:r>
          </a:p>
        </p:txBody>
      </p:sp>
      <p:sp>
        <p:nvSpPr>
          <p:cNvPr id="14" name="TextBox 13"/>
          <p:cNvSpPr txBox="1"/>
          <p:nvPr/>
        </p:nvSpPr>
        <p:spPr>
          <a:xfrm>
            <a:off x="685800" y="3566160"/>
            <a:ext cx="6309360" cy="201167"/>
          </a:xfrm>
          <a:prstGeom prst="rect">
            <a:avLst/>
          </a:prstGeom>
          <a:noFill/>
        </p:spPr>
        <p:txBody>
          <a:bodyPr wrap="square">
            <a:spAutoFit/>
          </a:bodyPr>
          <a:lstStyle/>
          <a:p>
            <a:r>
              <a:rPr sz="1100" b="0">
                <a:solidFill>
                  <a:srgbClr val="E6E8EC"/>
                </a:solidFill>
                <a:latin typeface="Segoe UI"/>
              </a:rPr>
              <a:t>Weighted intent classifier + entity extractor. Optional Claude (llm.js) returns schema-checked JSON</a:t>
            </a:r>
          </a:p>
        </p:txBody>
      </p:sp>
      <p:sp>
        <p:nvSpPr>
          <p:cNvPr id="15" name="Rounded Rectangle 14"/>
          <p:cNvSpPr/>
          <p:nvPr/>
        </p:nvSpPr>
        <p:spPr>
          <a:xfrm>
            <a:off x="548640" y="3931920"/>
            <a:ext cx="6583680" cy="749808"/>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023360"/>
            <a:ext cx="6309360" cy="365760"/>
          </a:xfrm>
          <a:prstGeom prst="rect">
            <a:avLst/>
          </a:prstGeom>
          <a:noFill/>
        </p:spPr>
        <p:txBody>
          <a:bodyPr wrap="square">
            <a:spAutoFit/>
          </a:bodyPr>
          <a:lstStyle/>
          <a:p>
            <a:r>
              <a:rPr sz="1300" b="1">
                <a:solidFill>
                  <a:srgbClr val="4CC38A"/>
                </a:solidFill>
                <a:latin typeface="Segoe UI"/>
              </a:rPr>
              <a:t>Knowledge &amp; retrieval</a:t>
            </a:r>
          </a:p>
        </p:txBody>
      </p:sp>
      <p:sp>
        <p:nvSpPr>
          <p:cNvPr id="17" name="TextBox 16"/>
          <p:cNvSpPr txBox="1"/>
          <p:nvPr/>
        </p:nvSpPr>
        <p:spPr>
          <a:xfrm>
            <a:off x="685800" y="4389120"/>
            <a:ext cx="6309360" cy="201167"/>
          </a:xfrm>
          <a:prstGeom prst="rect">
            <a:avLst/>
          </a:prstGeom>
          <a:noFill/>
        </p:spPr>
        <p:txBody>
          <a:bodyPr wrap="square">
            <a:spAutoFit/>
          </a:bodyPr>
          <a:lstStyle/>
          <a:p>
            <a:r>
              <a:rPr sz="1100" b="0">
                <a:solidFill>
                  <a:srgbClr val="E6E8EC"/>
                </a:solidFill>
                <a:latin typeface="Segoe UI"/>
              </a:rPr>
              <a:t>data.js: KB-01…10 + Asset Mgmt Policy + ticket history. Policy map + BM25 + precedent lookup</a:t>
            </a:r>
          </a:p>
        </p:txBody>
      </p:sp>
      <p:sp>
        <p:nvSpPr>
          <p:cNvPr id="18" name="Rounded Rectangle 17"/>
          <p:cNvSpPr/>
          <p:nvPr/>
        </p:nvSpPr>
        <p:spPr>
          <a:xfrm>
            <a:off x="548640" y="4754880"/>
            <a:ext cx="6583680" cy="749808"/>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846320"/>
            <a:ext cx="6309360" cy="365760"/>
          </a:xfrm>
          <a:prstGeom prst="rect">
            <a:avLst/>
          </a:prstGeom>
          <a:noFill/>
        </p:spPr>
        <p:txBody>
          <a:bodyPr wrap="square">
            <a:spAutoFit/>
          </a:bodyPr>
          <a:lstStyle/>
          <a:p>
            <a:r>
              <a:rPr sz="1300" b="1">
                <a:solidFill>
                  <a:srgbClr val="FF7B72"/>
                </a:solidFill>
                <a:latin typeface="Segoe UI"/>
              </a:rPr>
              <a:t>Policy &amp; guardrails</a:t>
            </a:r>
          </a:p>
        </p:txBody>
      </p:sp>
      <p:sp>
        <p:nvSpPr>
          <p:cNvPr id="20" name="TextBox 19"/>
          <p:cNvSpPr txBox="1"/>
          <p:nvPr/>
        </p:nvSpPr>
        <p:spPr>
          <a:xfrm>
            <a:off x="685800" y="5212080"/>
            <a:ext cx="6309360" cy="201167"/>
          </a:xfrm>
          <a:prstGeom prst="rect">
            <a:avLst/>
          </a:prstGeom>
          <a:noFill/>
        </p:spPr>
        <p:txBody>
          <a:bodyPr wrap="square">
            <a:spAutoFit/>
          </a:bodyPr>
          <a:lstStyle/>
          <a:p>
            <a:r>
              <a:rPr sz="1100" b="0">
                <a:solidFill>
                  <a:srgbClr val="E6E8EC"/>
                </a:solidFill>
                <a:latin typeface="Segoe UI"/>
              </a:rPr>
              <a:t>12 deterministic handlers · risk · conflict detection · ungrounded → escalate · status checks</a:t>
            </a:r>
          </a:p>
        </p:txBody>
      </p:sp>
      <p:sp>
        <p:nvSpPr>
          <p:cNvPr id="21" name="Rounded Rectangle 20"/>
          <p:cNvSpPr/>
          <p:nvPr/>
        </p:nvSpPr>
        <p:spPr>
          <a:xfrm>
            <a:off x="548640" y="5577840"/>
            <a:ext cx="6583680" cy="749808"/>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669279"/>
            <a:ext cx="6309360" cy="365760"/>
          </a:xfrm>
          <a:prstGeom prst="rect">
            <a:avLst/>
          </a:prstGeom>
          <a:noFill/>
        </p:spPr>
        <p:txBody>
          <a:bodyPr wrap="square">
            <a:spAutoFit/>
          </a:bodyPr>
          <a:lstStyle/>
          <a:p>
            <a:r>
              <a:rPr sz="1300" b="1">
                <a:solidFill>
                  <a:srgbClr val="E3B34A"/>
                </a:solidFill>
                <a:latin typeface="Segoe UI"/>
              </a:rPr>
              <a:t>Records</a:t>
            </a:r>
          </a:p>
        </p:txBody>
      </p:sp>
      <p:sp>
        <p:nvSpPr>
          <p:cNvPr id="23" name="TextBox 22"/>
          <p:cNvSpPr txBox="1"/>
          <p:nvPr/>
        </p:nvSpPr>
        <p:spPr>
          <a:xfrm>
            <a:off x="685800" y="6035040"/>
            <a:ext cx="6309360" cy="201167"/>
          </a:xfrm>
          <a:prstGeom prst="rect">
            <a:avLst/>
          </a:prstGeom>
          <a:noFill/>
        </p:spPr>
        <p:txBody>
          <a:bodyPr wrap="square">
            <a:spAutoFit/>
          </a:bodyPr>
          <a:lstStyle/>
          <a:p>
            <a:r>
              <a:rPr sz="1100" b="0">
                <a:solidFill>
                  <a:srgbClr val="E6E8EC"/>
                </a:solidFill>
                <a:latin typeface="Segoe UI"/>
              </a:rPr>
              <a:t>Structured JSON tickets · hash-chained audit trail · localStorage · JSON export</a:t>
            </a:r>
          </a:p>
        </p:txBody>
      </p:sp>
      <p:sp>
        <p:nvSpPr>
          <p:cNvPr id="24" name="TextBox 23"/>
          <p:cNvSpPr txBox="1"/>
          <p:nvPr/>
        </p:nvSpPr>
        <p:spPr>
          <a:xfrm>
            <a:off x="7406640" y="1463040"/>
            <a:ext cx="4480560" cy="4572000"/>
          </a:xfrm>
          <a:prstGeom prst="rect">
            <a:avLst/>
          </a:prstGeom>
          <a:noFill/>
        </p:spPr>
        <p:txBody>
          <a:bodyPr wrap="square">
            <a:spAutoFit/>
          </a:bodyPr>
          <a:lstStyle/>
          <a:p>
            <a:pPr>
              <a:spcAft>
                <a:spcPts val="1000"/>
              </a:spcAft>
            </a:pPr>
            <a:r>
              <a:rPr b="1" sz="1400">
                <a:solidFill>
                  <a:srgbClr val="7B93FF"/>
                </a:solidFill>
                <a:latin typeface="Segoe UI"/>
              </a:rPr>
              <a:t>Principle:</a:t>
            </a:r>
            <a:r>
              <a:rPr sz="1400">
                <a:solidFill>
                  <a:srgbClr val="E6E8EC"/>
                </a:solidFill>
                <a:latin typeface="Segoe UI"/>
              </a:rPr>
              <a:t> The LLM proposes, the policy engine decides. Every approval, route and escalation is deterministic, testable, and cites its source.</a:t>
            </a:r>
          </a:p>
          <a:p>
            <a:pPr>
              <a:spcAft>
                <a:spcPts val="1000"/>
              </a:spcAft>
            </a:pPr>
            <a:r>
              <a:rPr b="1" sz="1400">
                <a:solidFill>
                  <a:srgbClr val="7B93FF"/>
                </a:solidFill>
                <a:latin typeface="Segoe UI"/>
              </a:rPr>
              <a:t>Zero-dependency:</a:t>
            </a:r>
            <a:r>
              <a:rPr sz="1400">
                <a:solidFill>
                  <a:srgbClr val="E6E8EC"/>
                </a:solidFill>
                <a:latin typeface="Segoe UI"/>
              </a:rPr>
              <a:t> static web app on GitHub Pages. Works offline in Rules mode, and hybrid mode adds Claude.</a:t>
            </a:r>
          </a:p>
          <a:p>
            <a:pPr>
              <a:spcAft>
                <a:spcPts val="1000"/>
              </a:spcAft>
            </a:pPr>
            <a:r>
              <a:rPr b="1" sz="1400">
                <a:solidFill>
                  <a:srgbClr val="7B93FF"/>
                </a:solidFill>
                <a:latin typeface="Segoe UI"/>
              </a:rPr>
              <a:t>Portable:</a:t>
            </a:r>
            <a:r>
              <a:rPr sz="1400">
                <a:solidFill>
                  <a:srgbClr val="E6E8EC"/>
                </a:solidFill>
                <a:latin typeface="Segoe UI"/>
              </a:rPr>
              <a:t> the engine is a pure function, so it can sit behind Teams/Slack, ServiceNow, or an API with no rewrite.</a:t>
            </a:r>
          </a:p>
          <a:p>
            <a:pPr>
              <a:spcAft>
                <a:spcPts val="1000"/>
              </a:spcAft>
            </a:pPr>
            <a:r>
              <a:rPr b="1" sz="1400">
                <a:solidFill>
                  <a:srgbClr val="7B93FF"/>
                </a:solidFill>
                <a:latin typeface="Segoe UI"/>
              </a:rPr>
              <a:t>Safe fallback:</a:t>
            </a:r>
            <a:r>
              <a:rPr sz="1400">
                <a:solidFill>
                  <a:srgbClr val="E6E8EC"/>
                </a:solidFill>
                <a:latin typeface="Segoe UI"/>
              </a:rPr>
              <a:t> if the LLM fails or disagrees on a security or privileged intent, the rules result wins.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PROCESS FLOW</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Process flow: from message to action</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4 / 10  ·  Veridian IT Service Agent</a:t>
            </a:r>
          </a:p>
        </p:txBody>
      </p:sp>
      <p:sp>
        <p:nvSpPr>
          <p:cNvPr id="6" name="Rounded Rectangle 5"/>
          <p:cNvSpPr/>
          <p:nvPr/>
        </p:nvSpPr>
        <p:spPr>
          <a:xfrm>
            <a:off x="548640" y="1554480"/>
            <a:ext cx="1737360" cy="118872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45920"/>
            <a:ext cx="1463039" cy="365760"/>
          </a:xfrm>
          <a:prstGeom prst="rect">
            <a:avLst/>
          </a:prstGeom>
          <a:noFill/>
        </p:spPr>
        <p:txBody>
          <a:bodyPr wrap="square">
            <a:spAutoFit/>
          </a:bodyPr>
          <a:lstStyle/>
          <a:p>
            <a:r>
              <a:rPr sz="1400" b="1">
                <a:solidFill>
                  <a:srgbClr val="7B93FF"/>
                </a:solidFill>
                <a:latin typeface="Segoe UI"/>
              </a:rPr>
              <a:t>1 Intake</a:t>
            </a:r>
          </a:p>
        </p:txBody>
      </p:sp>
      <p:sp>
        <p:nvSpPr>
          <p:cNvPr id="8" name="TextBox 7"/>
          <p:cNvSpPr txBox="1"/>
          <p:nvPr/>
        </p:nvSpPr>
        <p:spPr>
          <a:xfrm>
            <a:off x="685800" y="2011680"/>
            <a:ext cx="1463039" cy="640080"/>
          </a:xfrm>
          <a:prstGeom prst="rect">
            <a:avLst/>
          </a:prstGeom>
          <a:noFill/>
        </p:spPr>
        <p:txBody>
          <a:bodyPr wrap="square">
            <a:spAutoFit/>
          </a:bodyPr>
          <a:lstStyle/>
          <a:p>
            <a:r>
              <a:rPr sz="1100" b="0">
                <a:solidFill>
                  <a:srgbClr val="E6E8EC"/>
                </a:solidFill>
                <a:latin typeface="Segoe UI"/>
              </a:rPr>
              <a:t>chat or queue item + requester + date</a:t>
            </a:r>
          </a:p>
        </p:txBody>
      </p:sp>
      <p:sp>
        <p:nvSpPr>
          <p:cNvPr id="9" name="Rounded Rectangle 8"/>
          <p:cNvSpPr/>
          <p:nvPr/>
        </p:nvSpPr>
        <p:spPr>
          <a:xfrm>
            <a:off x="2468880" y="1554480"/>
            <a:ext cx="1737360" cy="118872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645920"/>
            <a:ext cx="1463039" cy="365760"/>
          </a:xfrm>
          <a:prstGeom prst="rect">
            <a:avLst/>
          </a:prstGeom>
          <a:noFill/>
        </p:spPr>
        <p:txBody>
          <a:bodyPr wrap="square">
            <a:spAutoFit/>
          </a:bodyPr>
          <a:lstStyle/>
          <a:p>
            <a:r>
              <a:rPr sz="1400" b="1">
                <a:solidFill>
                  <a:srgbClr val="7B93FF"/>
                </a:solidFill>
                <a:latin typeface="Segoe UI"/>
              </a:rPr>
              <a:t>2 Understand</a:t>
            </a:r>
          </a:p>
        </p:txBody>
      </p:sp>
      <p:sp>
        <p:nvSpPr>
          <p:cNvPr id="11" name="TextBox 10"/>
          <p:cNvSpPr txBox="1"/>
          <p:nvPr/>
        </p:nvSpPr>
        <p:spPr>
          <a:xfrm>
            <a:off x="2606040" y="2011680"/>
            <a:ext cx="1463039" cy="640080"/>
          </a:xfrm>
          <a:prstGeom prst="rect">
            <a:avLst/>
          </a:prstGeom>
          <a:noFill/>
        </p:spPr>
        <p:txBody>
          <a:bodyPr wrap="square">
            <a:spAutoFit/>
          </a:bodyPr>
          <a:lstStyle/>
          <a:p>
            <a:r>
              <a:rPr sz="1100" b="0">
                <a:solidFill>
                  <a:srgbClr val="E6E8EC"/>
                </a:solidFill>
                <a:latin typeface="Segoe UI"/>
              </a:rPr>
              <a:t>intent, confidence, entities</a:t>
            </a:r>
          </a:p>
        </p:txBody>
      </p:sp>
      <p:sp>
        <p:nvSpPr>
          <p:cNvPr id="12" name="Rounded Rectangle 11"/>
          <p:cNvSpPr/>
          <p:nvPr/>
        </p:nvSpPr>
        <p:spPr>
          <a:xfrm>
            <a:off x="4389120" y="1554480"/>
            <a:ext cx="1737360" cy="118872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645920"/>
            <a:ext cx="1463039" cy="365760"/>
          </a:xfrm>
          <a:prstGeom prst="rect">
            <a:avLst/>
          </a:prstGeom>
          <a:noFill/>
        </p:spPr>
        <p:txBody>
          <a:bodyPr wrap="square">
            <a:spAutoFit/>
          </a:bodyPr>
          <a:lstStyle/>
          <a:p>
            <a:r>
              <a:rPr sz="1400" b="1">
                <a:solidFill>
                  <a:srgbClr val="7B93FF"/>
                </a:solidFill>
                <a:latin typeface="Segoe UI"/>
              </a:rPr>
              <a:t>3 Retrieve</a:t>
            </a:r>
          </a:p>
        </p:txBody>
      </p:sp>
      <p:sp>
        <p:nvSpPr>
          <p:cNvPr id="14" name="TextBox 13"/>
          <p:cNvSpPr txBox="1"/>
          <p:nvPr/>
        </p:nvSpPr>
        <p:spPr>
          <a:xfrm>
            <a:off x="4526280" y="2011680"/>
            <a:ext cx="1463039" cy="640080"/>
          </a:xfrm>
          <a:prstGeom prst="rect">
            <a:avLst/>
          </a:prstGeom>
          <a:noFill/>
        </p:spPr>
        <p:txBody>
          <a:bodyPr wrap="square">
            <a:spAutoFit/>
          </a:bodyPr>
          <a:lstStyle/>
          <a:p>
            <a:r>
              <a:rPr sz="1100" b="0">
                <a:solidFill>
                  <a:srgbClr val="E6E8EC"/>
                </a:solidFill>
                <a:latin typeface="Segoe UI"/>
              </a:rPr>
              <a:t>KB policy + BM25 + precedent</a:t>
            </a:r>
          </a:p>
        </p:txBody>
      </p:sp>
      <p:sp>
        <p:nvSpPr>
          <p:cNvPr id="15" name="Rounded Rectangle 14"/>
          <p:cNvSpPr/>
          <p:nvPr/>
        </p:nvSpPr>
        <p:spPr>
          <a:xfrm>
            <a:off x="6309360" y="1554480"/>
            <a:ext cx="1737360" cy="118872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645920"/>
            <a:ext cx="1463039" cy="365760"/>
          </a:xfrm>
          <a:prstGeom prst="rect">
            <a:avLst/>
          </a:prstGeom>
          <a:noFill/>
        </p:spPr>
        <p:txBody>
          <a:bodyPr wrap="square">
            <a:spAutoFit/>
          </a:bodyPr>
          <a:lstStyle/>
          <a:p>
            <a:r>
              <a:rPr sz="1400" b="1">
                <a:solidFill>
                  <a:srgbClr val="7B93FF"/>
                </a:solidFill>
                <a:latin typeface="Segoe UI"/>
              </a:rPr>
              <a:t>4 Reason</a:t>
            </a:r>
          </a:p>
        </p:txBody>
      </p:sp>
      <p:sp>
        <p:nvSpPr>
          <p:cNvPr id="17" name="TextBox 16"/>
          <p:cNvSpPr txBox="1"/>
          <p:nvPr/>
        </p:nvSpPr>
        <p:spPr>
          <a:xfrm>
            <a:off x="6446520" y="2011680"/>
            <a:ext cx="1463039" cy="640080"/>
          </a:xfrm>
          <a:prstGeom prst="rect">
            <a:avLst/>
          </a:prstGeom>
          <a:noFill/>
        </p:spPr>
        <p:txBody>
          <a:bodyPr wrap="square">
            <a:spAutoFit/>
          </a:bodyPr>
          <a:lstStyle/>
          <a:p>
            <a:r>
              <a:rPr sz="1100" b="0">
                <a:solidFill>
                  <a:srgbClr val="E6E8EC"/>
                </a:solidFill>
                <a:latin typeface="Segoe UI"/>
              </a:rPr>
              <a:t>policy handler checks slots</a:t>
            </a:r>
          </a:p>
        </p:txBody>
      </p:sp>
      <p:sp>
        <p:nvSpPr>
          <p:cNvPr id="18" name="Rounded Rectangle 17"/>
          <p:cNvSpPr/>
          <p:nvPr/>
        </p:nvSpPr>
        <p:spPr>
          <a:xfrm>
            <a:off x="8229600" y="1554480"/>
            <a:ext cx="1737360" cy="1188720"/>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645920"/>
            <a:ext cx="1463039" cy="365760"/>
          </a:xfrm>
          <a:prstGeom prst="rect">
            <a:avLst/>
          </a:prstGeom>
          <a:noFill/>
        </p:spPr>
        <p:txBody>
          <a:bodyPr wrap="square">
            <a:spAutoFit/>
          </a:bodyPr>
          <a:lstStyle/>
          <a:p>
            <a:r>
              <a:rPr sz="1400" b="1">
                <a:solidFill>
                  <a:srgbClr val="FF7B72"/>
                </a:solidFill>
                <a:latin typeface="Segoe UI"/>
              </a:rPr>
              <a:t>5 Guardrails</a:t>
            </a:r>
          </a:p>
        </p:txBody>
      </p:sp>
      <p:sp>
        <p:nvSpPr>
          <p:cNvPr id="20" name="TextBox 19"/>
          <p:cNvSpPr txBox="1"/>
          <p:nvPr/>
        </p:nvSpPr>
        <p:spPr>
          <a:xfrm>
            <a:off x="8366760" y="2011680"/>
            <a:ext cx="1463039" cy="640080"/>
          </a:xfrm>
          <a:prstGeom prst="rect">
            <a:avLst/>
          </a:prstGeom>
          <a:noFill/>
        </p:spPr>
        <p:txBody>
          <a:bodyPr wrap="square">
            <a:spAutoFit/>
          </a:bodyPr>
          <a:lstStyle/>
          <a:p>
            <a:r>
              <a:rPr sz="1100" b="0">
                <a:solidFill>
                  <a:srgbClr val="E6E8EC"/>
                </a:solidFill>
                <a:latin typeface="Segoe UI"/>
              </a:rPr>
              <a:t>risk, conflict, ungrounded</a:t>
            </a:r>
          </a:p>
        </p:txBody>
      </p:sp>
      <p:sp>
        <p:nvSpPr>
          <p:cNvPr id="21" name="Rounded Rectangle 20"/>
          <p:cNvSpPr/>
          <p:nvPr/>
        </p:nvSpPr>
        <p:spPr>
          <a:xfrm>
            <a:off x="10149840" y="1554480"/>
            <a:ext cx="1737360" cy="118872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87000" y="1645920"/>
            <a:ext cx="1463039" cy="365760"/>
          </a:xfrm>
          <a:prstGeom prst="rect">
            <a:avLst/>
          </a:prstGeom>
          <a:noFill/>
        </p:spPr>
        <p:txBody>
          <a:bodyPr wrap="square">
            <a:spAutoFit/>
          </a:bodyPr>
          <a:lstStyle/>
          <a:p>
            <a:r>
              <a:rPr sz="1400" b="1">
                <a:solidFill>
                  <a:srgbClr val="7B93FF"/>
                </a:solidFill>
                <a:latin typeface="Segoe UI"/>
              </a:rPr>
              <a:t>6 Act</a:t>
            </a:r>
          </a:p>
        </p:txBody>
      </p:sp>
      <p:sp>
        <p:nvSpPr>
          <p:cNvPr id="23" name="TextBox 22"/>
          <p:cNvSpPr txBox="1"/>
          <p:nvPr/>
        </p:nvSpPr>
        <p:spPr>
          <a:xfrm>
            <a:off x="10287000" y="2011680"/>
            <a:ext cx="1463039" cy="640080"/>
          </a:xfrm>
          <a:prstGeom prst="rect">
            <a:avLst/>
          </a:prstGeom>
          <a:noFill/>
        </p:spPr>
        <p:txBody>
          <a:bodyPr wrap="square">
            <a:spAutoFit/>
          </a:bodyPr>
          <a:lstStyle/>
          <a:p>
            <a:r>
              <a:rPr sz="1100" b="0">
                <a:solidFill>
                  <a:srgbClr val="E6E8EC"/>
                </a:solidFill>
                <a:latin typeface="Segoe UI"/>
              </a:rPr>
              <a:t>decision + ticket + audit</a:t>
            </a:r>
          </a:p>
        </p:txBody>
      </p:sp>
      <p:sp>
        <p:nvSpPr>
          <p:cNvPr id="24" name="TextBox 23"/>
          <p:cNvSpPr txBox="1"/>
          <p:nvPr/>
        </p:nvSpPr>
        <p:spPr>
          <a:xfrm>
            <a:off x="548640" y="2926080"/>
            <a:ext cx="10972800" cy="731520"/>
          </a:xfrm>
          <a:prstGeom prst="rect">
            <a:avLst/>
          </a:prstGeom>
          <a:noFill/>
        </p:spPr>
        <p:txBody>
          <a:bodyPr wrap="square">
            <a:spAutoFit/>
          </a:bodyPr>
          <a:lstStyle/>
          <a:p>
            <a:r>
              <a:rPr sz="1400" b="0">
                <a:solidFill>
                  <a:srgbClr val="E3B34A"/>
                </a:solidFill>
                <a:latin typeface="Segoe UI"/>
              </a:rPr>
              <a:t>↺  If a slot that changes the decision is missing (lockout attempts, laptop age, contractor or full-time, asset tag), the agent asks ONE targeted follow-up and loops back. After 2 failed clarifications it hands over to a human.</a:t>
            </a:r>
          </a:p>
        </p:txBody>
      </p:sp>
      <p:sp>
        <p:nvSpPr>
          <p:cNvPr id="25" name="Rounded Rectangle 24"/>
          <p:cNvSpPr/>
          <p:nvPr/>
        </p:nvSpPr>
        <p:spPr>
          <a:xfrm>
            <a:off x="548640" y="3931920"/>
            <a:ext cx="2148840" cy="219456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023359"/>
            <a:ext cx="1874520" cy="365760"/>
          </a:xfrm>
          <a:prstGeom prst="rect">
            <a:avLst/>
          </a:prstGeom>
          <a:noFill/>
        </p:spPr>
        <p:txBody>
          <a:bodyPr wrap="square">
            <a:spAutoFit/>
          </a:bodyPr>
          <a:lstStyle/>
          <a:p>
            <a:r>
              <a:rPr sz="1500" b="1">
                <a:solidFill>
                  <a:srgbClr val="4CC38A"/>
                </a:solidFill>
                <a:latin typeface="Segoe UI"/>
              </a:rPr>
              <a:t>RESOLVED</a:t>
            </a:r>
          </a:p>
        </p:txBody>
      </p:sp>
      <p:sp>
        <p:nvSpPr>
          <p:cNvPr id="27" name="TextBox 26"/>
          <p:cNvSpPr txBox="1"/>
          <p:nvPr/>
        </p:nvSpPr>
        <p:spPr>
          <a:xfrm>
            <a:off x="685800" y="4389120"/>
            <a:ext cx="1874520" cy="1645919"/>
          </a:xfrm>
          <a:prstGeom prst="rect">
            <a:avLst/>
          </a:prstGeom>
          <a:noFill/>
        </p:spPr>
        <p:txBody>
          <a:bodyPr wrap="square">
            <a:spAutoFit/>
          </a:bodyPr>
          <a:lstStyle/>
          <a:p>
            <a:r>
              <a:rPr sz="1200" b="0">
                <a:solidFill>
                  <a:srgbClr val="E6E8EC"/>
                </a:solidFill>
                <a:latin typeface="Segoe UI"/>
              </a:rPr>
              <a:t>Self-service with citation</a:t>
            </a:r>
          </a:p>
          <a:p>
            <a:r>
              <a:rPr sz="1200" b="0">
                <a:solidFill>
                  <a:srgbClr val="E6E8EC"/>
                </a:solidFill>
                <a:latin typeface="Segoe UI"/>
              </a:rPr>
              <a:t>REQ-02 guest Wi-Fi</a:t>
            </a:r>
          </a:p>
          <a:p>
            <a:r>
              <a:rPr sz="1200" b="0">
                <a:solidFill>
                  <a:srgbClr val="E6E8EC"/>
                </a:solidFill>
                <a:latin typeface="Segoe UI"/>
              </a:rPr>
              <a:t>REQ-05 VPN renewal</a:t>
            </a:r>
          </a:p>
          <a:p>
            <a:r>
              <a:rPr sz="1200" b="0">
                <a:solidFill>
                  <a:srgbClr val="E6E8EC"/>
                </a:solidFill>
                <a:latin typeface="Segoe UI"/>
              </a:rPr>
              <a:t>REQ-09 archive mail</a:t>
            </a:r>
          </a:p>
        </p:txBody>
      </p:sp>
      <p:sp>
        <p:nvSpPr>
          <p:cNvPr id="28" name="Rounded Rectangle 27"/>
          <p:cNvSpPr/>
          <p:nvPr/>
        </p:nvSpPr>
        <p:spPr>
          <a:xfrm>
            <a:off x="2834640" y="3931920"/>
            <a:ext cx="2148840" cy="219456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4023359"/>
            <a:ext cx="1874520" cy="365760"/>
          </a:xfrm>
          <a:prstGeom prst="rect">
            <a:avLst/>
          </a:prstGeom>
          <a:noFill/>
        </p:spPr>
        <p:txBody>
          <a:bodyPr wrap="square">
            <a:spAutoFit/>
          </a:bodyPr>
          <a:lstStyle/>
          <a:p>
            <a:r>
              <a:rPr sz="1500" b="1">
                <a:solidFill>
                  <a:srgbClr val="7B93FF"/>
                </a:solidFill>
                <a:latin typeface="Segoe UI"/>
              </a:rPr>
              <a:t>IT_TICKET</a:t>
            </a:r>
          </a:p>
        </p:txBody>
      </p:sp>
      <p:sp>
        <p:nvSpPr>
          <p:cNvPr id="30" name="TextBox 29"/>
          <p:cNvSpPr txBox="1"/>
          <p:nvPr/>
        </p:nvSpPr>
        <p:spPr>
          <a:xfrm>
            <a:off x="2971800" y="4389120"/>
            <a:ext cx="1874520" cy="1645919"/>
          </a:xfrm>
          <a:prstGeom prst="rect">
            <a:avLst/>
          </a:prstGeom>
          <a:noFill/>
        </p:spPr>
        <p:txBody>
          <a:bodyPr wrap="square">
            <a:spAutoFit/>
          </a:bodyPr>
          <a:lstStyle/>
          <a:p>
            <a:r>
              <a:rPr sz="1200" b="0">
                <a:solidFill>
                  <a:srgbClr val="E6E8EC"/>
                </a:solidFill>
                <a:latin typeface="Segoe UI"/>
              </a:rPr>
              <a:t>IT must act</a:t>
            </a:r>
          </a:p>
          <a:p>
            <a:r>
              <a:rPr sz="1200" b="0">
                <a:solidFill>
                  <a:srgbClr val="E6E8EC"/>
                </a:solidFill>
                <a:latin typeface="Segoe UI"/>
              </a:rPr>
              <a:t>REQ-03 manual unlock</a:t>
            </a:r>
          </a:p>
          <a:p>
            <a:r>
              <a:rPr sz="1200" b="0">
                <a:solidFill>
                  <a:srgbClr val="E6E8EC"/>
                </a:solidFill>
                <a:latin typeface="Segoe UI"/>
              </a:rPr>
              <a:t>REQ-13 laptop diagnosis</a:t>
            </a:r>
          </a:p>
        </p:txBody>
      </p:sp>
      <p:sp>
        <p:nvSpPr>
          <p:cNvPr id="31" name="Rounded Rectangle 30"/>
          <p:cNvSpPr/>
          <p:nvPr/>
        </p:nvSpPr>
        <p:spPr>
          <a:xfrm>
            <a:off x="5120640" y="3931920"/>
            <a:ext cx="2148840" cy="2194560"/>
          </a:xfrm>
          <a:prstGeom prst="roundRect">
            <a:avLst>
              <a:gd name="adj" fmla="val 8000"/>
            </a:avLst>
          </a:prstGeom>
          <a:solidFill>
            <a:srgbClr val="161B22"/>
          </a:solidFill>
          <a:ln>
            <a:solidFill>
              <a:srgbClr val="B99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7800" y="4023359"/>
            <a:ext cx="1874520" cy="365760"/>
          </a:xfrm>
          <a:prstGeom prst="rect">
            <a:avLst/>
          </a:prstGeom>
          <a:noFill/>
        </p:spPr>
        <p:txBody>
          <a:bodyPr wrap="square">
            <a:spAutoFit/>
          </a:bodyPr>
          <a:lstStyle/>
          <a:p>
            <a:r>
              <a:rPr sz="1500" b="1">
                <a:solidFill>
                  <a:srgbClr val="B99AF0"/>
                </a:solidFill>
                <a:latin typeface="Segoe UI"/>
              </a:rPr>
              <a:t>ROUTED</a:t>
            </a:r>
          </a:p>
        </p:txBody>
      </p:sp>
      <p:sp>
        <p:nvSpPr>
          <p:cNvPr id="33" name="TextBox 32"/>
          <p:cNvSpPr txBox="1"/>
          <p:nvPr/>
        </p:nvSpPr>
        <p:spPr>
          <a:xfrm>
            <a:off x="5257800" y="4389120"/>
            <a:ext cx="1874520" cy="1645919"/>
          </a:xfrm>
          <a:prstGeom prst="rect">
            <a:avLst/>
          </a:prstGeom>
          <a:noFill/>
        </p:spPr>
        <p:txBody>
          <a:bodyPr wrap="square">
            <a:spAutoFit/>
          </a:bodyPr>
          <a:lstStyle/>
          <a:p>
            <a:r>
              <a:rPr sz="1200" b="0">
                <a:solidFill>
                  <a:srgbClr val="E6E8EC"/>
                </a:solidFill>
                <a:latin typeface="Segoe UI"/>
              </a:rPr>
              <a:t>Other owner</a:t>
            </a:r>
          </a:p>
          <a:p>
            <a:r>
              <a:rPr sz="1200" b="0">
                <a:solidFill>
                  <a:srgbClr val="E6E8EC"/>
                </a:solidFill>
                <a:latin typeface="Segoe UI"/>
              </a:rPr>
              <a:t>REQ-07 manager → Finance → IT</a:t>
            </a:r>
          </a:p>
          <a:p>
            <a:r>
              <a:rPr sz="1200" b="0">
                <a:solidFill>
                  <a:srgbClr val="E6E8EC"/>
                </a:solidFill>
                <a:latin typeface="Segoe UI"/>
              </a:rPr>
              <a:t>REQ-11 contractor VPN form</a:t>
            </a:r>
          </a:p>
        </p:txBody>
      </p:sp>
      <p:sp>
        <p:nvSpPr>
          <p:cNvPr id="34" name="Rounded Rectangle 33"/>
          <p:cNvSpPr/>
          <p:nvPr/>
        </p:nvSpPr>
        <p:spPr>
          <a:xfrm>
            <a:off x="7406640" y="3931920"/>
            <a:ext cx="2148840" cy="2194560"/>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0" y="4023359"/>
            <a:ext cx="1874520" cy="365760"/>
          </a:xfrm>
          <a:prstGeom prst="rect">
            <a:avLst/>
          </a:prstGeom>
          <a:noFill/>
        </p:spPr>
        <p:txBody>
          <a:bodyPr wrap="square">
            <a:spAutoFit/>
          </a:bodyPr>
          <a:lstStyle/>
          <a:p>
            <a:r>
              <a:rPr sz="1500" b="1">
                <a:solidFill>
                  <a:srgbClr val="FF7B72"/>
                </a:solidFill>
                <a:latin typeface="Segoe UI"/>
              </a:rPr>
              <a:t>ESCALATED</a:t>
            </a:r>
          </a:p>
        </p:txBody>
      </p:sp>
      <p:sp>
        <p:nvSpPr>
          <p:cNvPr id="36" name="TextBox 35"/>
          <p:cNvSpPr txBox="1"/>
          <p:nvPr/>
        </p:nvSpPr>
        <p:spPr>
          <a:xfrm>
            <a:off x="7543800" y="4389120"/>
            <a:ext cx="1874520" cy="1645919"/>
          </a:xfrm>
          <a:prstGeom prst="rect">
            <a:avLst/>
          </a:prstGeom>
          <a:noFill/>
        </p:spPr>
        <p:txBody>
          <a:bodyPr wrap="square">
            <a:spAutoFit/>
          </a:bodyPr>
          <a:lstStyle/>
          <a:p>
            <a:r>
              <a:rPr sz="1200" b="0">
                <a:solidFill>
                  <a:srgbClr val="E6E8EC"/>
                </a:solidFill>
                <a:latin typeface="Segoe UI"/>
              </a:rPr>
              <a:t>Risk / no authority / conflict</a:t>
            </a:r>
          </a:p>
          <a:p>
            <a:r>
              <a:rPr sz="1200" b="0">
                <a:solidFill>
                  <a:srgbClr val="E6E8EC"/>
                </a:solidFill>
                <a:latin typeface="Segoe UI"/>
              </a:rPr>
              <a:t>REQ-01, 04, 08, 10, 14</a:t>
            </a:r>
          </a:p>
        </p:txBody>
      </p:sp>
      <p:sp>
        <p:nvSpPr>
          <p:cNvPr id="37" name="Rounded Rectangle 36"/>
          <p:cNvSpPr/>
          <p:nvPr/>
        </p:nvSpPr>
        <p:spPr>
          <a:xfrm>
            <a:off x="9692640" y="3931920"/>
            <a:ext cx="2148840" cy="2194560"/>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29800" y="4023359"/>
            <a:ext cx="1874520" cy="365760"/>
          </a:xfrm>
          <a:prstGeom prst="rect">
            <a:avLst/>
          </a:prstGeom>
          <a:noFill/>
        </p:spPr>
        <p:txBody>
          <a:bodyPr wrap="square">
            <a:spAutoFit/>
          </a:bodyPr>
          <a:lstStyle/>
          <a:p>
            <a:r>
              <a:rPr sz="1500" b="1">
                <a:solidFill>
                  <a:srgbClr val="E3B34A"/>
                </a:solidFill>
                <a:latin typeface="Segoe UI"/>
              </a:rPr>
              <a:t>NEEDS_INFO</a:t>
            </a:r>
          </a:p>
        </p:txBody>
      </p:sp>
      <p:sp>
        <p:nvSpPr>
          <p:cNvPr id="39" name="TextBox 38"/>
          <p:cNvSpPr txBox="1"/>
          <p:nvPr/>
        </p:nvSpPr>
        <p:spPr>
          <a:xfrm>
            <a:off x="9829800" y="4389120"/>
            <a:ext cx="1874520" cy="1645919"/>
          </a:xfrm>
          <a:prstGeom prst="rect">
            <a:avLst/>
          </a:prstGeom>
          <a:noFill/>
        </p:spPr>
        <p:txBody>
          <a:bodyPr wrap="square">
            <a:spAutoFit/>
          </a:bodyPr>
          <a:lstStyle/>
          <a:p>
            <a:r>
              <a:rPr sz="1200" b="0">
                <a:solidFill>
                  <a:srgbClr val="E6E8EC"/>
                </a:solidFill>
                <a:latin typeface="Segoe UI"/>
              </a:rPr>
              <a:t>Targeted question</a:t>
            </a:r>
          </a:p>
          <a:p>
            <a:r>
              <a:rPr sz="1200" b="0">
                <a:solidFill>
                  <a:srgbClr val="E6E8EC"/>
                </a:solidFill>
                <a:latin typeface="Segoe UI"/>
              </a:rPr>
              <a:t>REQ-06 printer</a:t>
            </a:r>
          </a:p>
          <a:p>
            <a:r>
              <a:rPr sz="1200" b="0">
                <a:solidFill>
                  <a:srgbClr val="E6E8EC"/>
                </a:solidFill>
                <a:latin typeface="Segoe UI"/>
              </a:rPr>
              <a:t>REQ-12 expense</a:t>
            </a:r>
          </a:p>
          <a:p>
            <a:r>
              <a:rPr sz="1200" b="0">
                <a:solidFill>
                  <a:srgbClr val="E6E8EC"/>
                </a:solidFill>
                <a:latin typeface="Segoe UI"/>
              </a:rPr>
              <a:t>REQ-15 vague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INPUTS &amp; ASSUMPTIONS</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Inputs, sources and assumptions</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5 / 10  ·  Veridian IT Service Agent</a:t>
            </a:r>
          </a:p>
        </p:txBody>
      </p:sp>
      <p:sp>
        <p:nvSpPr>
          <p:cNvPr id="6" name="Rounded Rectangle 5"/>
          <p:cNvSpPr/>
          <p:nvPr/>
        </p:nvSpPr>
        <p:spPr>
          <a:xfrm>
            <a:off x="548640" y="1463040"/>
            <a:ext cx="3657600" cy="475488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3383280" cy="365760"/>
          </a:xfrm>
          <a:prstGeom prst="rect">
            <a:avLst/>
          </a:prstGeom>
          <a:noFill/>
        </p:spPr>
        <p:txBody>
          <a:bodyPr wrap="square">
            <a:spAutoFit/>
          </a:bodyPr>
          <a:lstStyle/>
          <a:p>
            <a:r>
              <a:rPr sz="1600" b="1">
                <a:solidFill>
                  <a:srgbClr val="4CC38A"/>
                </a:solidFill>
                <a:latin typeface="Segoe UI"/>
              </a:rPr>
              <a:t>Inputs used (only these)</a:t>
            </a:r>
          </a:p>
        </p:txBody>
      </p:sp>
      <p:sp>
        <p:nvSpPr>
          <p:cNvPr id="8" name="TextBox 7"/>
          <p:cNvSpPr txBox="1"/>
          <p:nvPr/>
        </p:nvSpPr>
        <p:spPr>
          <a:xfrm>
            <a:off x="685800" y="1920240"/>
            <a:ext cx="3383280" cy="4206240"/>
          </a:xfrm>
          <a:prstGeom prst="rect">
            <a:avLst/>
          </a:prstGeom>
          <a:noFill/>
        </p:spPr>
        <p:txBody>
          <a:bodyPr wrap="square">
            <a:spAutoFit/>
          </a:bodyPr>
          <a:lstStyle/>
          <a:p>
            <a:r>
              <a:rPr sz="1300" b="0">
                <a:solidFill>
                  <a:srgbClr val="E6E8EC"/>
                </a:solidFill>
                <a:latin typeface="Segoe UI"/>
              </a:rPr>
              <a:t>• Assignment brief: Agentic AI Factory</a:t>
            </a:r>
          </a:p>
          <a:p>
            <a:r>
              <a:rPr sz="1300" b="0">
                <a:solidFill>
                  <a:srgbClr val="E6E8EC"/>
                </a:solidFill>
                <a:latin typeface="Segoe UI"/>
              </a:rPr>
              <a:t/>
            </a:r>
          </a:p>
          <a:p>
            <a:r>
              <a:rPr sz="1300" b="0">
                <a:solidFill>
                  <a:srgbClr val="E6E8EC"/>
                </a:solidFill>
                <a:latin typeface="Segoe UI"/>
              </a:rPr>
              <a:t>• Data pack Section 1: KB-01 to KB-10 + Asset Management Policy extract (Finance, Q2 2026)</a:t>
            </a:r>
          </a:p>
          <a:p>
            <a:r>
              <a:rPr sz="1300" b="0">
                <a:solidFill>
                  <a:srgbClr val="E6E8EC"/>
                </a:solidFill>
                <a:latin typeface="Segoe UI"/>
              </a:rPr>
              <a:t/>
            </a:r>
          </a:p>
          <a:p>
            <a:r>
              <a:rPr sz="1300" b="0">
                <a:solidFill>
                  <a:srgbClr val="E6E8EC"/>
                </a:solidFill>
                <a:latin typeface="Segoe UI"/>
              </a:rPr>
              <a:t>• Section 2: 15 employee requests REQ-01…15 with recorded status</a:t>
            </a:r>
          </a:p>
          <a:p>
            <a:r>
              <a:rPr sz="1300" b="0">
                <a:solidFill>
                  <a:srgbClr val="E6E8EC"/>
                </a:solidFill>
                <a:latin typeface="Segoe UI"/>
              </a:rPr>
              <a:t/>
            </a:r>
          </a:p>
          <a:p>
            <a:r>
              <a:rPr sz="1300" b="0">
                <a:solidFill>
                  <a:srgbClr val="E6E8EC"/>
                </a:solidFill>
                <a:latin typeface="Segoe UI"/>
              </a:rPr>
              <a:t>• Section 3: 10 queue tickets TK-1042…1051 (4 active, 6 closed as precedent)</a:t>
            </a:r>
          </a:p>
          <a:p>
            <a:r>
              <a:rPr sz="1300" b="0">
                <a:solidFill>
                  <a:srgbClr val="E6E8EC"/>
                </a:solidFill>
                <a:latin typeface="Segoe UI"/>
              </a:rPr>
              <a:t/>
            </a:r>
          </a:p>
          <a:p>
            <a:r>
              <a:rPr sz="1300" b="0">
                <a:solidFill>
                  <a:srgbClr val="E6E8EC"/>
                </a:solidFill>
                <a:latin typeface="Segoe UI"/>
              </a:rPr>
              <a:t>• No external or invented policy</a:t>
            </a:r>
          </a:p>
        </p:txBody>
      </p:sp>
      <p:sp>
        <p:nvSpPr>
          <p:cNvPr id="9" name="TextBox 8"/>
          <p:cNvSpPr txBox="1"/>
          <p:nvPr/>
        </p:nvSpPr>
        <p:spPr>
          <a:xfrm>
            <a:off x="4480560" y="1463040"/>
            <a:ext cx="7406640" cy="4937760"/>
          </a:xfrm>
          <a:prstGeom prst="rect">
            <a:avLst/>
          </a:prstGeom>
          <a:noFill/>
        </p:spPr>
        <p:txBody>
          <a:bodyPr wrap="square">
            <a:spAutoFit/>
          </a:bodyPr>
          <a:lstStyle/>
          <a:p>
            <a:pPr>
              <a:spcAft>
                <a:spcPts val="800"/>
              </a:spcAft>
            </a:pPr>
            <a:r>
              <a:rPr b="1" sz="1400">
                <a:solidFill>
                  <a:srgbClr val="7B93FF"/>
                </a:solidFill>
                <a:latin typeface="Segoe UI"/>
              </a:rPr>
              <a:t>Dates:</a:t>
            </a:r>
            <a:r>
              <a:rPr sz="1400">
                <a:solidFill>
                  <a:srgbClr val="E6E8EC"/>
                </a:solidFill>
                <a:latin typeface="Segoe UI"/>
              </a:rPr>
              <a:t> simulation week Mon 21 to Fri 25 Sep 2026. SLAs in business days (no holiday calendar given).</a:t>
            </a:r>
          </a:p>
          <a:p>
            <a:pPr>
              <a:spcAft>
                <a:spcPts val="800"/>
              </a:spcAft>
            </a:pPr>
            <a:r>
              <a:rPr b="1" sz="1400">
                <a:solidFill>
                  <a:srgbClr val="7B93FF"/>
                </a:solidFill>
                <a:latin typeface="Segoe UI"/>
              </a:rPr>
              <a:t>Catalog:</a:t>
            </a:r>
            <a:r>
              <a:rPr sz="1400">
                <a:solidFill>
                  <a:srgbClr val="E6E8EC"/>
                </a:solidFill>
                <a:latin typeface="Segoe UI"/>
              </a:rPr>
              <a:t> the approved software list isn't supplied, so unconfirmed software is treated as non-catalog (safe default).</a:t>
            </a:r>
          </a:p>
          <a:p>
            <a:pPr>
              <a:spcAft>
                <a:spcPts val="800"/>
              </a:spcAft>
            </a:pPr>
            <a:r>
              <a:rPr b="1" sz="1400">
                <a:solidFill>
                  <a:srgbClr val="7B93FF"/>
                </a:solidFill>
                <a:latin typeface="Segoe UI"/>
              </a:rPr>
              <a:t>Policy conflict:</a:t>
            </a:r>
            <a:r>
              <a:rPr sz="1400">
                <a:solidFill>
                  <a:srgbClr val="E6E8EC"/>
                </a:solidFill>
                <a:latin typeface="Segoe UI"/>
              </a:rPr>
              <a:t> KB-03 (3 yrs) vs Asset Policy (4 yrs + Finance sign-off) is surfaced to humans, not auto-resolved.</a:t>
            </a:r>
          </a:p>
          <a:p>
            <a:pPr>
              <a:spcAft>
                <a:spcPts val="800"/>
              </a:spcAft>
            </a:pPr>
            <a:r>
              <a:rPr b="1" sz="1400">
                <a:solidFill>
                  <a:srgbClr val="7B93FF"/>
                </a:solidFill>
                <a:latin typeface="Segoe UI"/>
              </a:rPr>
              <a:t>No policy = no action:</a:t>
            </a:r>
            <a:r>
              <a:rPr sz="1400">
                <a:solidFill>
                  <a:srgbClr val="E6E8EC"/>
                </a:solidFill>
                <a:latin typeface="Segoe UI"/>
              </a:rPr>
              <a:t> admin/privileged access has no KB entry, so escalate with TK-1050 precedent.</a:t>
            </a:r>
          </a:p>
          <a:p>
            <a:pPr>
              <a:spcAft>
                <a:spcPts val="800"/>
              </a:spcAft>
            </a:pPr>
            <a:r>
              <a:rPr b="1" sz="1400">
                <a:solidFill>
                  <a:srgbClr val="7B93FF"/>
                </a:solidFill>
                <a:latin typeface="Segoe UI"/>
              </a:rPr>
              <a:t>REQ-11:</a:t>
            </a:r>
            <a:r>
              <a:rPr sz="1400">
                <a:solidFill>
                  <a:srgbClr val="E6E8EC"/>
                </a:solidFill>
                <a:latin typeface="Segoe UI"/>
              </a:rPr>
              <a:t> requester treated as the contractor's manager, and this is stated in the reply.</a:t>
            </a:r>
          </a:p>
          <a:p>
            <a:pPr>
              <a:spcAft>
                <a:spcPts val="800"/>
              </a:spcAft>
            </a:pPr>
            <a:r>
              <a:rPr b="1" sz="1400">
                <a:solidFill>
                  <a:srgbClr val="7B93FF"/>
                </a:solidFill>
                <a:latin typeface="Segoe UI"/>
              </a:rPr>
              <a:t>Priority model:</a:t>
            </a:r>
            <a:r>
              <a:rPr sz="1400">
                <a:solidFill>
                  <a:srgbClr val="E6E8EC"/>
                </a:solidFill>
                <a:latin typeface="Segoe UI"/>
              </a:rPr>
              <a:t> P1 security · P2 employee blocked · P3 standard · P4 informational.</a:t>
            </a:r>
          </a:p>
          <a:p>
            <a:pPr>
              <a:spcAft>
                <a:spcPts val="800"/>
              </a:spcAft>
            </a:pPr>
            <a:r>
              <a:rPr b="1" sz="1400">
                <a:solidFill>
                  <a:srgbClr val="7B93FF"/>
                </a:solidFill>
                <a:latin typeface="Segoe UI"/>
              </a:rPr>
              <a:t>Out of scope:</a:t>
            </a:r>
            <a:r>
              <a:rPr sz="1400">
                <a:solidFill>
                  <a:srgbClr val="E6E8EC"/>
                </a:solidFill>
                <a:latin typeface="Segoe UI"/>
              </a:rPr>
              <a:t> identity verification, real ITSM/email integration. Tickets are simulated JSON records.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DEMO · AGENT CHAT</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Working agent: grounded conversation</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6 / 10  ·  Veridian IT Service Agent</a:t>
            </a:r>
          </a:p>
        </p:txBody>
      </p:sp>
      <p:pic>
        <p:nvPicPr>
          <p:cNvPr id="6" name="Picture 5" descr="chat_req01.png"/>
          <p:cNvPicPr>
            <a:picLocks noChangeAspect="1"/>
          </p:cNvPicPr>
          <p:nvPr/>
        </p:nvPicPr>
        <p:blipFill>
          <a:blip r:embed="rId2"/>
          <a:stretch>
            <a:fillRect/>
          </a:stretch>
        </p:blipFill>
        <p:spPr>
          <a:xfrm>
            <a:off x="548640" y="1417320"/>
            <a:ext cx="8046720" cy="5029200"/>
          </a:xfrm>
          <a:prstGeom prst="rect">
            <a:avLst/>
          </a:prstGeom>
        </p:spPr>
      </p:pic>
      <p:sp>
        <p:nvSpPr>
          <p:cNvPr id="7" name="TextBox 6"/>
          <p:cNvSpPr txBox="1"/>
          <p:nvPr/>
        </p:nvSpPr>
        <p:spPr>
          <a:xfrm>
            <a:off x="8778240" y="1463040"/>
            <a:ext cx="3200400" cy="5029200"/>
          </a:xfrm>
          <a:prstGeom prst="rect">
            <a:avLst/>
          </a:prstGeom>
          <a:noFill/>
        </p:spPr>
        <p:txBody>
          <a:bodyPr wrap="square">
            <a:spAutoFit/>
          </a:bodyPr>
          <a:lstStyle/>
          <a:p>
            <a:pPr>
              <a:spcAft>
                <a:spcPts val="800"/>
              </a:spcAft>
            </a:pPr>
            <a:r>
              <a:rPr b="1" sz="1300">
                <a:solidFill>
                  <a:srgbClr val="7B93FF"/>
                </a:solidFill>
                <a:latin typeface="Segoe UI"/>
              </a:rPr>
              <a:t>REQ-01:</a:t>
            </a:r>
            <a:r>
              <a:rPr sz="1300">
                <a:solidFill>
                  <a:srgbClr val="E6E8EC"/>
                </a:solidFill>
                <a:latin typeface="Segoe UI"/>
              </a:rPr>
              <a:t> 3.5-yr dead laptop</a:t>
            </a:r>
          </a:p>
          <a:p>
            <a:pPr>
              <a:spcAft>
                <a:spcPts val="800"/>
              </a:spcAft>
            </a:pPr>
            <a:r>
              <a:rPr b="1" sz="1300">
                <a:solidFill>
                  <a:srgbClr val="7B93FF"/>
                </a:solidFill>
                <a:latin typeface="Segoe UI"/>
              </a:rPr>
              <a:t>Conflict found:</a:t>
            </a:r>
            <a:r>
              <a:rPr sz="1300">
                <a:solidFill>
                  <a:srgbClr val="E6E8EC"/>
                </a:solidFill>
                <a:latin typeface="Segoe UI"/>
              </a:rPr>
              <a:t> KB-03 says eligible, the Asset Policy says early (needs Finance sign-off)</a:t>
            </a:r>
          </a:p>
          <a:p>
            <a:pPr>
              <a:spcAft>
                <a:spcPts val="800"/>
              </a:spcAft>
            </a:pPr>
            <a:r>
              <a:rPr b="1" sz="1300">
                <a:solidFill>
                  <a:srgbClr val="7B93FF"/>
                </a:solidFill>
                <a:latin typeface="Segoe UI"/>
              </a:rPr>
              <a:t>Doesn't approve:</a:t>
            </a:r>
            <a:r>
              <a:rPr sz="1300">
                <a:solidFill>
                  <a:srgbClr val="E6E8EC"/>
                </a:solidFill>
                <a:latin typeface="Segoe UI"/>
              </a:rPr>
              <a:t> escalates to IT verification → IT approval → Finance sign-off</a:t>
            </a:r>
          </a:p>
          <a:p>
            <a:pPr>
              <a:spcAft>
                <a:spcPts val="800"/>
              </a:spcAft>
            </a:pPr>
            <a:r>
              <a:rPr b="1" sz="1300">
                <a:solidFill>
                  <a:srgbClr val="7B93FF"/>
                </a:solidFill>
                <a:latin typeface="Segoe UI"/>
              </a:rPr>
              <a:t>Flags edge case:</a:t>
            </a:r>
            <a:r>
              <a:rPr sz="1300">
                <a:solidFill>
                  <a:srgbClr val="E6E8EC"/>
                </a:solidFill>
                <a:latin typeface="Segoe UI"/>
              </a:rPr>
              <a:t> the 2-week notice rule doesn't fit a laptop that has already failed</a:t>
            </a:r>
          </a:p>
          <a:p>
            <a:pPr>
              <a:spcAft>
                <a:spcPts val="800"/>
              </a:spcAft>
            </a:pPr>
            <a:r>
              <a:rPr b="1" sz="1300">
                <a:solidFill>
                  <a:srgbClr val="7B93FF"/>
                </a:solidFill>
                <a:latin typeface="Segoe UI"/>
              </a:rPr>
              <a:t>Trace panel:</a:t>
            </a:r>
            <a:r>
              <a:rPr sz="1300">
                <a:solidFill>
                  <a:srgbClr val="E6E8EC"/>
                </a:solidFill>
                <a:latin typeface="Segoe UI"/>
              </a:rPr>
              <a:t> intake, intent, entities, retrieval scores, precedent TK-1043, guardrails, decision, ticket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DEMO · TRIAGE &amp; STATUS RECONCILIATION</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Triage Console: whole queue in one click</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7 / 10  ·  Veridian IT Service Agent</a:t>
            </a:r>
          </a:p>
        </p:txBody>
      </p:sp>
      <p:pic>
        <p:nvPicPr>
          <p:cNvPr id="6" name="Picture 5" descr="triage.png"/>
          <p:cNvPicPr>
            <a:picLocks noChangeAspect="1"/>
          </p:cNvPicPr>
          <p:nvPr/>
        </p:nvPicPr>
        <p:blipFill>
          <a:blip r:embed="rId2"/>
          <a:stretch>
            <a:fillRect/>
          </a:stretch>
        </p:blipFill>
        <p:spPr>
          <a:xfrm>
            <a:off x="548640" y="1371600"/>
            <a:ext cx="5956663" cy="5212080"/>
          </a:xfrm>
          <a:prstGeom prst="rect">
            <a:avLst/>
          </a:prstGeom>
        </p:spPr>
      </p:pic>
      <p:sp>
        <p:nvSpPr>
          <p:cNvPr id="7" name="TextBox 6"/>
          <p:cNvSpPr txBox="1"/>
          <p:nvPr/>
        </p:nvSpPr>
        <p:spPr>
          <a:xfrm>
            <a:off x="6675120" y="1371600"/>
            <a:ext cx="5303520" cy="5120640"/>
          </a:xfrm>
          <a:prstGeom prst="rect">
            <a:avLst/>
          </a:prstGeom>
          <a:noFill/>
        </p:spPr>
        <p:txBody>
          <a:bodyPr wrap="square">
            <a:spAutoFit/>
          </a:bodyPr>
          <a:lstStyle/>
          <a:p>
            <a:pPr>
              <a:spcAft>
                <a:spcPts val="900"/>
              </a:spcAft>
            </a:pPr>
            <a:r>
              <a:rPr b="1" sz="1400">
                <a:solidFill>
                  <a:srgbClr val="7B93FF"/>
                </a:solidFill>
                <a:latin typeface="Segoe UI"/>
              </a:rPr>
              <a:t>REQ-03:</a:t>
            </a:r>
            <a:r>
              <a:rPr sz="1400">
                <a:solidFill>
                  <a:srgbClr val="E6E8EC"/>
                </a:solidFill>
                <a:latin typeface="Segoe UI"/>
              </a:rPr>
              <a:t> 'reset queued' is wrong. KB-01 requires a manual unlock</a:t>
            </a:r>
          </a:p>
          <a:p>
            <a:pPr>
              <a:spcAft>
                <a:spcPts val="900"/>
              </a:spcAft>
            </a:pPr>
            <a:r>
              <a:rPr b="1" sz="1400">
                <a:solidFill>
                  <a:srgbClr val="7B93FF"/>
                </a:solidFill>
                <a:latin typeface="Segoe UI"/>
              </a:rPr>
              <a:t>REQ-08:</a:t>
            </a:r>
            <a:r>
              <a:rPr sz="1400">
                <a:solidFill>
                  <a:srgbClr val="E6E8EC"/>
                </a:solidFill>
                <a:latin typeface="Segoe UI"/>
              </a:rPr>
              <a:t> escalated, but the employee is forwarding the phishing email. Contain it</a:t>
            </a:r>
          </a:p>
          <a:p>
            <a:pPr>
              <a:spcAft>
                <a:spcPts val="900"/>
              </a:spcAft>
            </a:pPr>
            <a:r>
              <a:rPr b="1" sz="1400">
                <a:solidFill>
                  <a:srgbClr val="7B93FF"/>
                </a:solidFill>
                <a:latin typeface="Segoe UI"/>
              </a:rPr>
              <a:t>REQ-04:</a:t>
            </a:r>
            <a:r>
              <a:rPr sz="1400">
                <a:solidFill>
                  <a:srgbClr val="E6E8EC"/>
                </a:solidFill>
                <a:latin typeface="Segoe UI"/>
              </a:rPr>
              <a:t> SLA window Fri 25 to Tue 29 Sep computed</a:t>
            </a:r>
          </a:p>
          <a:p>
            <a:pPr>
              <a:spcAft>
                <a:spcPts val="900"/>
              </a:spcAft>
            </a:pPr>
            <a:r>
              <a:rPr b="1" sz="1400">
                <a:solidFill>
                  <a:srgbClr val="7B93FF"/>
                </a:solidFill>
                <a:latin typeface="Segoe UI"/>
              </a:rPr>
              <a:t>REQ-06 / REQ-12:</a:t>
            </a:r>
            <a:r>
              <a:rPr sz="1400">
                <a:solidFill>
                  <a:srgbClr val="E6E8EC"/>
                </a:solidFill>
                <a:latin typeface="Segoe UI"/>
              </a:rPr>
              <a:t> missing asset tag / stalled reply</a:t>
            </a:r>
          </a:p>
          <a:p>
            <a:pPr>
              <a:spcAft>
                <a:spcPts val="900"/>
              </a:spcAft>
            </a:pPr>
            <a:r>
              <a:rPr b="1" sz="1400">
                <a:solidFill>
                  <a:srgbClr val="7B93FF"/>
                </a:solidFill>
                <a:latin typeface="Segoe UI"/>
              </a:rPr>
              <a:t>TK-1043:</a:t>
            </a:r>
            <a:r>
              <a:rPr sz="1400">
                <a:solidFill>
                  <a:srgbClr val="E6E8EC"/>
                </a:solidFill>
                <a:latin typeface="Segoe UI"/>
              </a:rPr>
              <a:t> HOLD fulfilment. 3.2 yrs approved without Finance sign-off</a:t>
            </a:r>
          </a:p>
          <a:p>
            <a:pPr>
              <a:spcAft>
                <a:spcPts val="900"/>
              </a:spcAft>
            </a:pPr>
            <a:r>
              <a:rPr b="1" sz="1400">
                <a:solidFill>
                  <a:srgbClr val="7B93FF"/>
                </a:solidFill>
                <a:latin typeface="Segoe UI"/>
              </a:rPr>
              <a:t>TK-1048:</a:t>
            </a:r>
            <a:r>
              <a:rPr sz="1400">
                <a:solidFill>
                  <a:srgbClr val="E6E8EC"/>
                </a:solidFill>
                <a:latin typeface="Segoe UI"/>
              </a:rPr>
              <a:t> link to REQ-08 as a possible same campaign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SAFETY &amp; GOVERNANCE</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Guardrails, escalation and audit trail</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8 / 10  ·  Veridian IT Service Agent</a:t>
            </a:r>
          </a:p>
        </p:txBody>
      </p:sp>
      <p:sp>
        <p:nvSpPr>
          <p:cNvPr id="6" name="Rounded Rectangle 5"/>
          <p:cNvSpPr/>
          <p:nvPr/>
        </p:nvSpPr>
        <p:spPr>
          <a:xfrm>
            <a:off x="548640" y="1463040"/>
            <a:ext cx="3657600" cy="2377440"/>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3383280" cy="365760"/>
          </a:xfrm>
          <a:prstGeom prst="rect">
            <a:avLst/>
          </a:prstGeom>
          <a:noFill/>
        </p:spPr>
        <p:txBody>
          <a:bodyPr wrap="square">
            <a:spAutoFit/>
          </a:bodyPr>
          <a:lstStyle/>
          <a:p>
            <a:r>
              <a:rPr sz="1500" b="1">
                <a:solidFill>
                  <a:srgbClr val="FF7B72"/>
                </a:solidFill>
                <a:latin typeface="Segoe UI"/>
              </a:rPr>
              <a:t>REQ-08 · Phishing (P1 Critical)</a:t>
            </a:r>
          </a:p>
        </p:txBody>
      </p:sp>
      <p:sp>
        <p:nvSpPr>
          <p:cNvPr id="8" name="TextBox 7"/>
          <p:cNvSpPr txBox="1"/>
          <p:nvPr/>
        </p:nvSpPr>
        <p:spPr>
          <a:xfrm>
            <a:off x="685800" y="1920240"/>
            <a:ext cx="3383280" cy="1828800"/>
          </a:xfrm>
          <a:prstGeom prst="rect">
            <a:avLst/>
          </a:prstGeom>
          <a:noFill/>
        </p:spPr>
        <p:txBody>
          <a:bodyPr wrap="square">
            <a:spAutoFit/>
          </a:bodyPr>
          <a:lstStyle/>
          <a:p>
            <a:r>
              <a:rPr sz="1300" b="0">
                <a:solidFill>
                  <a:srgbClr val="E6E8EC"/>
                </a:solidFill>
                <a:latin typeface="Segoe UI"/>
              </a:rPr>
              <a:t>Security-first override. Tells the employee to stop forwarding (KB-09 violation), report to security@veridian-corp.example, warn recipients, and correlate with TK-1048.</a:t>
            </a:r>
          </a:p>
        </p:txBody>
      </p:sp>
      <p:sp>
        <p:nvSpPr>
          <p:cNvPr id="9" name="Rounded Rectangle 8"/>
          <p:cNvSpPr/>
          <p:nvPr/>
        </p:nvSpPr>
        <p:spPr>
          <a:xfrm>
            <a:off x="4389120" y="1463040"/>
            <a:ext cx="3657600" cy="2377440"/>
          </a:xfrm>
          <a:prstGeom prst="roundRect">
            <a:avLst>
              <a:gd name="adj" fmla="val 8000"/>
            </a:avLst>
          </a:prstGeom>
          <a:solidFill>
            <a:srgbClr val="161B22"/>
          </a:solidFill>
          <a:ln>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54480"/>
            <a:ext cx="3383280" cy="365760"/>
          </a:xfrm>
          <a:prstGeom prst="rect">
            <a:avLst/>
          </a:prstGeom>
          <a:noFill/>
        </p:spPr>
        <p:txBody>
          <a:bodyPr wrap="square">
            <a:spAutoFit/>
          </a:bodyPr>
          <a:lstStyle/>
          <a:p>
            <a:r>
              <a:rPr sz="1500" b="1">
                <a:solidFill>
                  <a:srgbClr val="FF7B72"/>
                </a:solidFill>
                <a:latin typeface="Segoe UI"/>
              </a:rPr>
              <a:t>REQ-10 · Urgent admin access</a:t>
            </a:r>
          </a:p>
        </p:txBody>
      </p:sp>
      <p:sp>
        <p:nvSpPr>
          <p:cNvPr id="11" name="TextBox 10"/>
          <p:cNvSpPr txBox="1"/>
          <p:nvPr/>
        </p:nvSpPr>
        <p:spPr>
          <a:xfrm>
            <a:off x="4526280" y="1920240"/>
            <a:ext cx="3383280" cy="1828800"/>
          </a:xfrm>
          <a:prstGeom prst="rect">
            <a:avLst/>
          </a:prstGeom>
          <a:noFill/>
        </p:spPr>
        <p:txBody>
          <a:bodyPr wrap="square">
            <a:spAutoFit/>
          </a:bodyPr>
          <a:lstStyle/>
          <a:p>
            <a:r>
              <a:rPr sz="1300" b="0">
                <a:solidFill>
                  <a:srgbClr val="E6E8EC"/>
                </a:solidFill>
                <a:latin typeface="Segoe UI"/>
              </a:rPr>
              <a:t>No KB policy, so the agent won't act. Urgency pressure flagged. Asks for business justification and manager approval. Precedent TK-1050 was rejected for lack of justification.</a:t>
            </a:r>
          </a:p>
        </p:txBody>
      </p:sp>
      <p:sp>
        <p:nvSpPr>
          <p:cNvPr id="12" name="Rounded Rectangle 11"/>
          <p:cNvSpPr/>
          <p:nvPr/>
        </p:nvSpPr>
        <p:spPr>
          <a:xfrm>
            <a:off x="8229600" y="1463040"/>
            <a:ext cx="3474720" cy="2377440"/>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554480"/>
            <a:ext cx="3200400" cy="365760"/>
          </a:xfrm>
          <a:prstGeom prst="rect">
            <a:avLst/>
          </a:prstGeom>
          <a:noFill/>
        </p:spPr>
        <p:txBody>
          <a:bodyPr wrap="square">
            <a:spAutoFit/>
          </a:bodyPr>
          <a:lstStyle/>
          <a:p>
            <a:r>
              <a:rPr sz="1500" b="1">
                <a:solidFill>
                  <a:srgbClr val="E3B34A"/>
                </a:solidFill>
                <a:latin typeface="Segoe UI"/>
              </a:rPr>
              <a:t>REQ-14 · Tracking extension</a:t>
            </a:r>
          </a:p>
        </p:txBody>
      </p:sp>
      <p:sp>
        <p:nvSpPr>
          <p:cNvPr id="14" name="TextBox 13"/>
          <p:cNvSpPr txBox="1"/>
          <p:nvPr/>
        </p:nvSpPr>
        <p:spPr>
          <a:xfrm>
            <a:off x="8366760" y="1920240"/>
            <a:ext cx="3200400" cy="1828800"/>
          </a:xfrm>
          <a:prstGeom prst="rect">
            <a:avLst/>
          </a:prstGeom>
          <a:noFill/>
        </p:spPr>
        <p:txBody>
          <a:bodyPr wrap="square">
            <a:spAutoFit/>
          </a:bodyPr>
          <a:lstStyle/>
          <a:p>
            <a:r>
              <a:rPr sz="1300" b="0">
                <a:solidFill>
                  <a:srgbClr val="E6E8EC"/>
                </a:solidFill>
                <a:latin typeface="Segoe UI"/>
              </a:rPr>
              <a:t>Non-catalog, so IT Security review (3–5 business days). Marked HIGH risk as a monitoring tool with privacy exposure.</a:t>
            </a:r>
          </a:p>
        </p:txBody>
      </p:sp>
      <p:sp>
        <p:nvSpPr>
          <p:cNvPr id="15" name="Rounded Rectangle 14"/>
          <p:cNvSpPr/>
          <p:nvPr/>
        </p:nvSpPr>
        <p:spPr>
          <a:xfrm>
            <a:off x="548640" y="4023360"/>
            <a:ext cx="5486400" cy="228600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114800"/>
            <a:ext cx="5212080" cy="365760"/>
          </a:xfrm>
          <a:prstGeom prst="rect">
            <a:avLst/>
          </a:prstGeom>
          <a:noFill/>
        </p:spPr>
        <p:txBody>
          <a:bodyPr wrap="square">
            <a:spAutoFit/>
          </a:bodyPr>
          <a:lstStyle/>
          <a:p>
            <a:r>
              <a:rPr sz="1500" b="1">
                <a:solidFill>
                  <a:srgbClr val="7B93FF"/>
                </a:solidFill>
                <a:latin typeface="Segoe UI"/>
              </a:rPr>
              <a:t>Audit trail</a:t>
            </a:r>
          </a:p>
        </p:txBody>
      </p:sp>
      <p:sp>
        <p:nvSpPr>
          <p:cNvPr id="17" name="TextBox 16"/>
          <p:cNvSpPr txBox="1"/>
          <p:nvPr/>
        </p:nvSpPr>
        <p:spPr>
          <a:xfrm>
            <a:off x="685800" y="4480560"/>
            <a:ext cx="5212080" cy="1737360"/>
          </a:xfrm>
          <a:prstGeom prst="rect">
            <a:avLst/>
          </a:prstGeom>
          <a:noFill/>
        </p:spPr>
        <p:txBody>
          <a:bodyPr wrap="square">
            <a:spAutoFit/>
          </a:bodyPr>
          <a:lstStyle/>
          <a:p>
            <a:r>
              <a:rPr sz="1300" b="0">
                <a:solidFill>
                  <a:srgbClr val="E6E8EC"/>
                </a:solidFill>
                <a:latin typeface="Segoe UI"/>
              </a:rPr>
              <a:t>Every stage is logged: timestamp, session, actor (employee / agent / LLM / guardrail), stage, detail. Each entry is hash-chained to the previous one, so edits are detectable. Export as JSON.</a:t>
            </a:r>
          </a:p>
        </p:txBody>
      </p:sp>
      <p:sp>
        <p:nvSpPr>
          <p:cNvPr id="18" name="Rounded Rectangle 17"/>
          <p:cNvSpPr/>
          <p:nvPr/>
        </p:nvSpPr>
        <p:spPr>
          <a:xfrm>
            <a:off x="6217920" y="4023360"/>
            <a:ext cx="5486400" cy="228600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114800"/>
            <a:ext cx="5212080" cy="365760"/>
          </a:xfrm>
          <a:prstGeom prst="rect">
            <a:avLst/>
          </a:prstGeom>
          <a:noFill/>
        </p:spPr>
        <p:txBody>
          <a:bodyPr wrap="square">
            <a:spAutoFit/>
          </a:bodyPr>
          <a:lstStyle/>
          <a:p>
            <a:r>
              <a:rPr sz="1500" b="1">
                <a:solidFill>
                  <a:srgbClr val="4CC38A"/>
                </a:solidFill>
                <a:latin typeface="Segoe UI"/>
              </a:rPr>
              <a:t>Structured ticket</a:t>
            </a:r>
          </a:p>
        </p:txBody>
      </p:sp>
      <p:sp>
        <p:nvSpPr>
          <p:cNvPr id="20" name="TextBox 19"/>
          <p:cNvSpPr txBox="1"/>
          <p:nvPr/>
        </p:nvSpPr>
        <p:spPr>
          <a:xfrm>
            <a:off x="6355080" y="4480560"/>
            <a:ext cx="5212080" cy="1737360"/>
          </a:xfrm>
          <a:prstGeom prst="rect">
            <a:avLst/>
          </a:prstGeom>
          <a:noFill/>
        </p:spPr>
        <p:txBody>
          <a:bodyPr wrap="square">
            <a:spAutoFit/>
          </a:bodyPr>
          <a:lstStyle/>
          <a:p>
            <a:r>
              <a:rPr sz="1300" b="0">
                <a:solidFill>
                  <a:srgbClr val="E6E8EC"/>
                </a:solidFill>
                <a:latin typeface="Segoe UI"/>
              </a:rPr>
              <a:t>id · requester · category · decision · priority · risk · assignedTo · status · SLA · kbSources · precedents · policyConflicts · flags · nextSteps · extracted slots. Export as 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AI TOOLS</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AI tools used and how</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9 / 10  ·  Veridian IT Service Agent</a:t>
            </a:r>
          </a:p>
        </p:txBody>
      </p:sp>
      <p:sp>
        <p:nvSpPr>
          <p:cNvPr id="6" name="Rounded Rectangle 5"/>
          <p:cNvSpPr/>
          <p:nvPr/>
        </p:nvSpPr>
        <p:spPr>
          <a:xfrm>
            <a:off x="548640" y="1463040"/>
            <a:ext cx="5486400" cy="228600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5212080" cy="365760"/>
          </a:xfrm>
          <a:prstGeom prst="rect">
            <a:avLst/>
          </a:prstGeom>
          <a:noFill/>
        </p:spPr>
        <p:txBody>
          <a:bodyPr wrap="square">
            <a:spAutoFit/>
          </a:bodyPr>
          <a:lstStyle/>
          <a:p>
            <a:r>
              <a:rPr sz="1500" b="1">
                <a:solidFill>
                  <a:srgbClr val="7B93FF"/>
                </a:solidFill>
                <a:latin typeface="Segoe UI"/>
              </a:rPr>
              <a:t>Claude Code (Claude Opus)  ·  Build partner</a:t>
            </a:r>
          </a:p>
        </p:txBody>
      </p:sp>
      <p:sp>
        <p:nvSpPr>
          <p:cNvPr id="8" name="TextBox 7"/>
          <p:cNvSpPr txBox="1"/>
          <p:nvPr/>
        </p:nvSpPr>
        <p:spPr>
          <a:xfrm>
            <a:off x="685800" y="1920240"/>
            <a:ext cx="5212080" cy="1737360"/>
          </a:xfrm>
          <a:prstGeom prst="rect">
            <a:avLst/>
          </a:prstGeom>
          <a:noFill/>
        </p:spPr>
        <p:txBody>
          <a:bodyPr wrap="square">
            <a:spAutoFit/>
          </a:bodyPr>
          <a:lstStyle/>
          <a:p>
            <a:r>
              <a:rPr sz="1300" b="0">
                <a:solidFill>
                  <a:srgbClr val="E6E8EC"/>
                </a:solidFill>
                <a:latin typeface="Segoe UI"/>
              </a:rPr>
              <a:t>Parsed the docx and PDF data pack into structured data, designed the pipeline and decision model, wrote the engine, UI, and Node test harness, captured screenshots, generated this deck (python-pptx), and wrote the README. Every rule was checked by hand against the data-pack wording.</a:t>
            </a:r>
          </a:p>
        </p:txBody>
      </p:sp>
      <p:sp>
        <p:nvSpPr>
          <p:cNvPr id="9" name="Rounded Rectangle 8"/>
          <p:cNvSpPr/>
          <p:nvPr/>
        </p:nvSpPr>
        <p:spPr>
          <a:xfrm>
            <a:off x="6217920" y="1463040"/>
            <a:ext cx="5486400" cy="2286000"/>
          </a:xfrm>
          <a:prstGeom prst="roundRect">
            <a:avLst>
              <a:gd name="adj" fmla="val 8000"/>
            </a:avLst>
          </a:prstGeom>
          <a:solidFill>
            <a:srgbClr val="161B22"/>
          </a:solidFill>
          <a:ln>
            <a:solidFill>
              <a:srgbClr val="B99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54480"/>
            <a:ext cx="5212080" cy="365760"/>
          </a:xfrm>
          <a:prstGeom prst="rect">
            <a:avLst/>
          </a:prstGeom>
          <a:noFill/>
        </p:spPr>
        <p:txBody>
          <a:bodyPr wrap="square">
            <a:spAutoFit/>
          </a:bodyPr>
          <a:lstStyle/>
          <a:p>
            <a:r>
              <a:rPr sz="1500" b="1">
                <a:solidFill>
                  <a:srgbClr val="B99AF0"/>
                </a:solidFill>
                <a:latin typeface="Segoe UI"/>
              </a:rPr>
              <a:t>Claude API (Sonnet), optional  ·  Runtime NLU</a:t>
            </a:r>
          </a:p>
        </p:txBody>
      </p:sp>
      <p:sp>
        <p:nvSpPr>
          <p:cNvPr id="11" name="TextBox 10"/>
          <p:cNvSpPr txBox="1"/>
          <p:nvPr/>
        </p:nvSpPr>
        <p:spPr>
          <a:xfrm>
            <a:off x="6355080" y="1920240"/>
            <a:ext cx="5212080" cy="1737360"/>
          </a:xfrm>
          <a:prstGeom prst="rect">
            <a:avLst/>
          </a:prstGeom>
          <a:noFill/>
        </p:spPr>
        <p:txBody>
          <a:bodyPr wrap="square">
            <a:spAutoFit/>
          </a:bodyPr>
          <a:lstStyle/>
          <a:p>
            <a:r>
              <a:rPr sz="1300" b="0">
                <a:solidFill>
                  <a:srgbClr val="E6E8EC"/>
                </a:solidFill>
                <a:latin typeface="Segoe UI"/>
              </a:rPr>
              <a:t>Hybrid mode (⚙ settings): converts messy employee text into schema-validated {intent, confidence, slots}. Allow-listed slots only. It never approves, routes or escalates, and falls back to rules on failure.</a:t>
            </a:r>
          </a:p>
        </p:txBody>
      </p:sp>
      <p:sp>
        <p:nvSpPr>
          <p:cNvPr id="12" name="Rounded Rectangle 11"/>
          <p:cNvSpPr/>
          <p:nvPr/>
        </p:nvSpPr>
        <p:spPr>
          <a:xfrm>
            <a:off x="548640" y="3931920"/>
            <a:ext cx="5486400" cy="228600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23360"/>
            <a:ext cx="5212080" cy="365760"/>
          </a:xfrm>
          <a:prstGeom prst="rect">
            <a:avLst/>
          </a:prstGeom>
          <a:noFill/>
        </p:spPr>
        <p:txBody>
          <a:bodyPr wrap="square">
            <a:spAutoFit/>
          </a:bodyPr>
          <a:lstStyle/>
          <a:p>
            <a:r>
              <a:rPr sz="1500" b="1">
                <a:solidFill>
                  <a:srgbClr val="4CC38A"/>
                </a:solidFill>
                <a:latin typeface="Segoe UI"/>
              </a:rPr>
              <a:t>Deterministic policy engine  ·  Decision layer</a:t>
            </a:r>
          </a:p>
        </p:txBody>
      </p:sp>
      <p:sp>
        <p:nvSpPr>
          <p:cNvPr id="14" name="TextBox 13"/>
          <p:cNvSpPr txBox="1"/>
          <p:nvPr/>
        </p:nvSpPr>
        <p:spPr>
          <a:xfrm>
            <a:off x="685800" y="4389120"/>
            <a:ext cx="5212080" cy="1737360"/>
          </a:xfrm>
          <a:prstGeom prst="rect">
            <a:avLst/>
          </a:prstGeom>
          <a:noFill/>
        </p:spPr>
        <p:txBody>
          <a:bodyPr wrap="square">
            <a:spAutoFit/>
          </a:bodyPr>
          <a:lstStyle/>
          <a:p>
            <a:r>
              <a:rPr sz="1300" b="0">
                <a:solidFill>
                  <a:srgbClr val="E6E8EC"/>
                </a:solidFill>
                <a:latin typeface="Segoe UI"/>
              </a:rPr>
              <a:t>12 policy handlers, BM25 retrieval, risk and conflict guardrails. Chosen deliberately over LLM decisions so outcomes are consistent, testable and auditable.</a:t>
            </a:r>
          </a:p>
        </p:txBody>
      </p:sp>
      <p:sp>
        <p:nvSpPr>
          <p:cNvPr id="15" name="Rounded Rectangle 14"/>
          <p:cNvSpPr/>
          <p:nvPr/>
        </p:nvSpPr>
        <p:spPr>
          <a:xfrm>
            <a:off x="6217920" y="3931920"/>
            <a:ext cx="5486400" cy="2286000"/>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023360"/>
            <a:ext cx="5212080" cy="365760"/>
          </a:xfrm>
          <a:prstGeom prst="rect">
            <a:avLst/>
          </a:prstGeom>
          <a:noFill/>
        </p:spPr>
        <p:txBody>
          <a:bodyPr wrap="square">
            <a:spAutoFit/>
          </a:bodyPr>
          <a:lstStyle/>
          <a:p>
            <a:r>
              <a:rPr sz="1500" b="1">
                <a:solidFill>
                  <a:srgbClr val="E3B34A"/>
                </a:solidFill>
                <a:latin typeface="Segoe UI"/>
              </a:rPr>
              <a:t>Node.js scripted evaluation  ·  Verification</a:t>
            </a:r>
          </a:p>
        </p:txBody>
      </p:sp>
      <p:sp>
        <p:nvSpPr>
          <p:cNvPr id="17" name="TextBox 16"/>
          <p:cNvSpPr txBox="1"/>
          <p:nvPr/>
        </p:nvSpPr>
        <p:spPr>
          <a:xfrm>
            <a:off x="6355080" y="4389120"/>
            <a:ext cx="5212080" cy="1737360"/>
          </a:xfrm>
          <a:prstGeom prst="rect">
            <a:avLst/>
          </a:prstGeom>
          <a:noFill/>
        </p:spPr>
        <p:txBody>
          <a:bodyPr wrap="square">
            <a:spAutoFit/>
          </a:bodyPr>
          <a:lstStyle/>
          <a:p>
            <a:r>
              <a:rPr sz="1300" b="0">
                <a:solidFill>
                  <a:srgbClr val="E6E8EC"/>
                </a:solidFill>
                <a:latin typeface="Segoe UI"/>
              </a:rPr>
              <a:t>Replayed all 15 requests and multi-turn dialogues (vague → VPN → contractor, laptop age follow-up, phishing with credentials entered) and fixed a misrouting bug where security must outrank password.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B9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7B93FF"/>
                </a:solidFill>
                <a:latin typeface="Segoe UI"/>
              </a:rPr>
              <a:t>OUTCOME</a:t>
            </a:r>
          </a:p>
        </p:txBody>
      </p:sp>
      <p:sp>
        <p:nvSpPr>
          <p:cNvPr id="4" name="TextBox 3"/>
          <p:cNvSpPr txBox="1"/>
          <p:nvPr/>
        </p:nvSpPr>
        <p:spPr>
          <a:xfrm>
            <a:off x="548640" y="640080"/>
            <a:ext cx="11155680" cy="822960"/>
          </a:xfrm>
          <a:prstGeom prst="rect">
            <a:avLst/>
          </a:prstGeom>
          <a:noFill/>
        </p:spPr>
        <p:txBody>
          <a:bodyPr wrap="square">
            <a:spAutoFit/>
          </a:bodyPr>
          <a:lstStyle/>
          <a:p>
            <a:r>
              <a:rPr sz="3000" b="1">
                <a:solidFill>
                  <a:srgbClr val="E6E8EC"/>
                </a:solidFill>
                <a:latin typeface="Segoe UI"/>
              </a:rPr>
              <a:t>Results, limitations and next steps</a:t>
            </a:r>
          </a:p>
        </p:txBody>
      </p:sp>
      <p:sp>
        <p:nvSpPr>
          <p:cNvPr id="5" name="TextBox 4"/>
          <p:cNvSpPr txBox="1"/>
          <p:nvPr/>
        </p:nvSpPr>
        <p:spPr>
          <a:xfrm>
            <a:off x="8778240" y="6400800"/>
            <a:ext cx="3200400" cy="320040"/>
          </a:xfrm>
          <a:prstGeom prst="rect">
            <a:avLst/>
          </a:prstGeom>
          <a:noFill/>
        </p:spPr>
        <p:txBody>
          <a:bodyPr wrap="square">
            <a:spAutoFit/>
          </a:bodyPr>
          <a:lstStyle/>
          <a:p>
            <a:r>
              <a:rPr sz="1000" b="0">
                <a:solidFill>
                  <a:srgbClr val="9AA3B2"/>
                </a:solidFill>
                <a:latin typeface="Segoe UI"/>
              </a:rPr>
              <a:t>10 / 10  ·  Veridian IT Service Agent</a:t>
            </a:r>
          </a:p>
        </p:txBody>
      </p:sp>
      <p:sp>
        <p:nvSpPr>
          <p:cNvPr id="6" name="Rounded Rectangle 5"/>
          <p:cNvSpPr/>
          <p:nvPr/>
        </p:nvSpPr>
        <p:spPr>
          <a:xfrm>
            <a:off x="548640" y="1463040"/>
            <a:ext cx="3657600" cy="4206240"/>
          </a:xfrm>
          <a:prstGeom prst="roundRect">
            <a:avLst>
              <a:gd name="adj" fmla="val 8000"/>
            </a:avLst>
          </a:prstGeom>
          <a:solidFill>
            <a:srgbClr val="161B22"/>
          </a:solidFill>
          <a:ln>
            <a:solidFill>
              <a:srgbClr val="4CC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3383280" cy="365760"/>
          </a:xfrm>
          <a:prstGeom prst="rect">
            <a:avLst/>
          </a:prstGeom>
          <a:noFill/>
        </p:spPr>
        <p:txBody>
          <a:bodyPr wrap="square">
            <a:spAutoFit/>
          </a:bodyPr>
          <a:lstStyle/>
          <a:p>
            <a:r>
              <a:rPr sz="1600" b="1">
                <a:solidFill>
                  <a:srgbClr val="4CC38A"/>
                </a:solidFill>
                <a:latin typeface="Segoe UI"/>
              </a:rPr>
              <a:t>Results</a:t>
            </a:r>
          </a:p>
        </p:txBody>
      </p:sp>
      <p:sp>
        <p:nvSpPr>
          <p:cNvPr id="8" name="TextBox 7"/>
          <p:cNvSpPr txBox="1"/>
          <p:nvPr/>
        </p:nvSpPr>
        <p:spPr>
          <a:xfrm>
            <a:off x="685800" y="1920240"/>
            <a:ext cx="3383280" cy="3657599"/>
          </a:xfrm>
          <a:prstGeom prst="rect">
            <a:avLst/>
          </a:prstGeom>
          <a:noFill/>
        </p:spPr>
        <p:txBody>
          <a:bodyPr wrap="square">
            <a:spAutoFit/>
          </a:bodyPr>
          <a:lstStyle/>
          <a:p>
            <a:r>
              <a:rPr sz="1300" b="0">
                <a:solidFill>
                  <a:srgbClr val="E6E8EC"/>
                </a:solidFill>
                <a:latin typeface="Segoe UI"/>
              </a:rPr>
              <a:t>• 15/15 requests handled with a cited decision or a targeted question</a:t>
            </a:r>
          </a:p>
          <a:p>
            <a:r>
              <a:rPr sz="1300" b="0">
                <a:solidFill>
                  <a:srgbClr val="E6E8EC"/>
                </a:solidFill>
                <a:latin typeface="Segoe UI"/>
              </a:rPr>
              <a:t>• 5 escalations, all justified (risk, conflict, no policy)</a:t>
            </a:r>
          </a:p>
          <a:p>
            <a:r>
              <a:rPr sz="1300" b="0">
                <a:solidFill>
                  <a:srgbClr val="E6E8EC"/>
                </a:solidFill>
                <a:latin typeface="Segoe UI"/>
              </a:rPr>
              <a:t>• 5 status corrections on the existing queue</a:t>
            </a:r>
          </a:p>
          <a:p>
            <a:r>
              <a:rPr sz="1300" b="0">
                <a:solidFill>
                  <a:srgbClr val="E6E8EC"/>
                </a:solidFill>
                <a:latin typeface="Segoe UI"/>
              </a:rPr>
              <a:t>• 2 policy conflicts surfaced (REQ-01, TK-1043)</a:t>
            </a:r>
          </a:p>
          <a:p>
            <a:r>
              <a:rPr sz="1300" b="0">
                <a:solidFill>
                  <a:srgbClr val="E6E8EC"/>
                </a:solidFill>
                <a:latin typeface="Segoe UI"/>
              </a:rPr>
              <a:t>• 0 invented policies. Ungrounded requests go to humans</a:t>
            </a:r>
          </a:p>
          <a:p>
            <a:r>
              <a:rPr sz="1300" b="0">
                <a:solidFill>
                  <a:srgbClr val="E6E8EC"/>
                </a:solidFill>
                <a:latin typeface="Segoe UI"/>
              </a:rPr>
              <a:t>• Runs with one command or the live link</a:t>
            </a:r>
          </a:p>
        </p:txBody>
      </p:sp>
      <p:sp>
        <p:nvSpPr>
          <p:cNvPr id="9" name="Rounded Rectangle 8"/>
          <p:cNvSpPr/>
          <p:nvPr/>
        </p:nvSpPr>
        <p:spPr>
          <a:xfrm>
            <a:off x="4389120" y="1463040"/>
            <a:ext cx="3657600" cy="4206240"/>
          </a:xfrm>
          <a:prstGeom prst="roundRect">
            <a:avLst>
              <a:gd name="adj" fmla="val 8000"/>
            </a:avLst>
          </a:prstGeom>
          <a:solidFill>
            <a:srgbClr val="161B22"/>
          </a:solidFill>
          <a:ln>
            <a:solidFill>
              <a:srgbClr val="E3B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54480"/>
            <a:ext cx="3383280" cy="365760"/>
          </a:xfrm>
          <a:prstGeom prst="rect">
            <a:avLst/>
          </a:prstGeom>
          <a:noFill/>
        </p:spPr>
        <p:txBody>
          <a:bodyPr wrap="square">
            <a:spAutoFit/>
          </a:bodyPr>
          <a:lstStyle/>
          <a:p>
            <a:r>
              <a:rPr sz="1600" b="1">
                <a:solidFill>
                  <a:srgbClr val="E3B34A"/>
                </a:solidFill>
                <a:latin typeface="Segoe UI"/>
              </a:rPr>
              <a:t>Limitations</a:t>
            </a:r>
          </a:p>
        </p:txBody>
      </p:sp>
      <p:sp>
        <p:nvSpPr>
          <p:cNvPr id="11" name="TextBox 10"/>
          <p:cNvSpPr txBox="1"/>
          <p:nvPr/>
        </p:nvSpPr>
        <p:spPr>
          <a:xfrm>
            <a:off x="4526280" y="1920240"/>
            <a:ext cx="3383280" cy="3657599"/>
          </a:xfrm>
          <a:prstGeom prst="rect">
            <a:avLst/>
          </a:prstGeom>
          <a:noFill/>
        </p:spPr>
        <p:txBody>
          <a:bodyPr wrap="square">
            <a:spAutoFit/>
          </a:bodyPr>
          <a:lstStyle/>
          <a:p>
            <a:r>
              <a:rPr sz="1300" b="0">
                <a:solidFill>
                  <a:srgbClr val="E6E8EC"/>
                </a:solidFill>
                <a:latin typeface="Segoe UI"/>
              </a:rPr>
              <a:t>• Keyword classifier is tuned to this domain (the LLM layer covers messy phrasing)</a:t>
            </a:r>
          </a:p>
          <a:p>
            <a:r>
              <a:rPr sz="1300" b="0">
                <a:solidFill>
                  <a:srgbClr val="E6E8EC"/>
                </a:solidFill>
                <a:latin typeface="Segoe UI"/>
              </a:rPr>
              <a:t>• Tickets and audit are in browser storage, not ITSM</a:t>
            </a:r>
          </a:p>
          <a:p>
            <a:r>
              <a:rPr sz="1300" b="0">
                <a:solidFill>
                  <a:srgbClr val="E6E8EC"/>
                </a:solidFill>
                <a:latin typeface="Segoe UI"/>
              </a:rPr>
              <a:t>• No identity verification or SSO</a:t>
            </a:r>
          </a:p>
          <a:p>
            <a:r>
              <a:rPr sz="1300" b="0">
                <a:solidFill>
                  <a:srgbClr val="E6E8EC"/>
                </a:solidFill>
                <a:latin typeface="Segoe UI"/>
              </a:rPr>
              <a:t>• No holiday calendar for SLAs</a:t>
            </a:r>
          </a:p>
          <a:p>
            <a:r>
              <a:rPr sz="1300" b="0">
                <a:solidFill>
                  <a:srgbClr val="E6E8EC"/>
                </a:solidFill>
                <a:latin typeface="Segoe UI"/>
              </a:rPr>
              <a:t>• Catalog contents unknown</a:t>
            </a:r>
          </a:p>
        </p:txBody>
      </p:sp>
      <p:sp>
        <p:nvSpPr>
          <p:cNvPr id="12" name="Rounded Rectangle 11"/>
          <p:cNvSpPr/>
          <p:nvPr/>
        </p:nvSpPr>
        <p:spPr>
          <a:xfrm>
            <a:off x="8229600" y="1463040"/>
            <a:ext cx="3474720" cy="4206240"/>
          </a:xfrm>
          <a:prstGeom prst="roundRect">
            <a:avLst>
              <a:gd name="adj" fmla="val 8000"/>
            </a:avLst>
          </a:prstGeom>
          <a:solidFill>
            <a:srgbClr val="161B22"/>
          </a:solidFill>
          <a:ln>
            <a:solidFill>
              <a:srgbClr val="7B9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554480"/>
            <a:ext cx="3200400" cy="365760"/>
          </a:xfrm>
          <a:prstGeom prst="rect">
            <a:avLst/>
          </a:prstGeom>
          <a:noFill/>
        </p:spPr>
        <p:txBody>
          <a:bodyPr wrap="square">
            <a:spAutoFit/>
          </a:bodyPr>
          <a:lstStyle/>
          <a:p>
            <a:r>
              <a:rPr sz="1600" b="1">
                <a:solidFill>
                  <a:srgbClr val="7B93FF"/>
                </a:solidFill>
                <a:latin typeface="Segoe UI"/>
              </a:rPr>
              <a:t>Next steps</a:t>
            </a:r>
          </a:p>
        </p:txBody>
      </p:sp>
      <p:sp>
        <p:nvSpPr>
          <p:cNvPr id="14" name="TextBox 13"/>
          <p:cNvSpPr txBox="1"/>
          <p:nvPr/>
        </p:nvSpPr>
        <p:spPr>
          <a:xfrm>
            <a:off x="8366760" y="1920240"/>
            <a:ext cx="3200400" cy="3657599"/>
          </a:xfrm>
          <a:prstGeom prst="rect">
            <a:avLst/>
          </a:prstGeom>
          <a:noFill/>
        </p:spPr>
        <p:txBody>
          <a:bodyPr wrap="square">
            <a:spAutoFit/>
          </a:bodyPr>
          <a:lstStyle/>
          <a:p>
            <a:r>
              <a:rPr sz="1300" b="0">
                <a:solidFill>
                  <a:srgbClr val="E6E8EC"/>
                </a:solidFill>
                <a:latin typeface="Segoe UI"/>
              </a:rPr>
              <a:t>• ServiceNow/Jira + Teams integration</a:t>
            </a:r>
          </a:p>
          <a:p>
            <a:r>
              <a:rPr sz="1300" b="0">
                <a:solidFill>
                  <a:srgbClr val="E6E8EC"/>
                </a:solidFill>
                <a:latin typeface="Segoe UI"/>
              </a:rPr>
              <a:t>• Embedding retrieval + eval set</a:t>
            </a:r>
          </a:p>
          <a:p>
            <a:r>
              <a:rPr sz="1300" b="0">
                <a:solidFill>
                  <a:srgbClr val="E6E8EC"/>
                </a:solidFill>
                <a:latin typeface="Segoe UI"/>
              </a:rPr>
              <a:t>• Policy-owner workflow to reconcile KB-03 vs AMP</a:t>
            </a:r>
          </a:p>
          <a:p>
            <a:r>
              <a:rPr sz="1300" b="0">
                <a:solidFill>
                  <a:srgbClr val="E6E8EC"/>
                </a:solidFill>
                <a:latin typeface="Segoe UI"/>
              </a:rPr>
              <a:t>• WORM audit store, PII redaction</a:t>
            </a:r>
          </a:p>
          <a:p>
            <a:r>
              <a:rPr sz="1300" b="0">
                <a:solidFill>
                  <a:srgbClr val="E6E8EC"/>
                </a:solidFill>
                <a:latin typeface="Segoe UI"/>
              </a:rPr>
              <a:t>• Human-in-the-loop approval inbox</a:t>
            </a:r>
          </a:p>
        </p:txBody>
      </p:sp>
      <p:sp>
        <p:nvSpPr>
          <p:cNvPr id="15" name="TextBox 14"/>
          <p:cNvSpPr txBox="1"/>
          <p:nvPr/>
        </p:nvSpPr>
        <p:spPr>
          <a:xfrm>
            <a:off x="548640" y="5852160"/>
            <a:ext cx="10972800" cy="365760"/>
          </a:xfrm>
          <a:prstGeom prst="rect">
            <a:avLst/>
          </a:prstGeom>
          <a:noFill/>
        </p:spPr>
        <p:txBody>
          <a:bodyPr wrap="square">
            <a:spAutoFit/>
          </a:bodyPr>
          <a:lstStyle/>
          <a:p>
            <a:r>
              <a:rPr sz="1500" b="1">
                <a:solidFill>
                  <a:srgbClr val="7B93FF"/>
                </a:solidFill>
                <a:latin typeface="Segoe UI"/>
              </a:rPr>
              <a:t>Live: https://princegarg001.github.io/veridian-it-service-agent/</a:t>
            </a:r>
          </a:p>
        </p:txBody>
      </p:sp>
      <p:sp>
        <p:nvSpPr>
          <p:cNvPr id="16" name="TextBox 15"/>
          <p:cNvSpPr txBox="1"/>
          <p:nvPr/>
        </p:nvSpPr>
        <p:spPr>
          <a:xfrm>
            <a:off x="548640" y="6217920"/>
            <a:ext cx="10972800" cy="365760"/>
          </a:xfrm>
          <a:prstGeom prst="rect">
            <a:avLst/>
          </a:prstGeom>
          <a:noFill/>
        </p:spPr>
        <p:txBody>
          <a:bodyPr wrap="square">
            <a:spAutoFit/>
          </a:bodyPr>
          <a:lstStyle/>
          <a:p>
            <a:r>
              <a:rPr sz="1500" b="1">
                <a:solidFill>
                  <a:srgbClr val="7B93FF"/>
                </a:solidFill>
                <a:latin typeface="Segoe UI"/>
              </a:rPr>
              <a:t>Code: https://github.com/princegarg001/veridian-it-service-agent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